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3.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media/image1.emf" ContentType="image/x-emf"/>
  <Override PartName="/ppt/media/image2.emf" ContentType="image/x-emf"/>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Arial"/>
              </a:rPr>
              <a:t>Click to move the slide</a:t>
            </a:r>
            <a:endParaRPr lang="en-US" sz="1800" b="0" u="none" strike="noStrike">
              <a:solidFill>
                <a:schemeClr val="dk1"/>
              </a:solidFill>
              <a:effectLst/>
              <a:uFillTx/>
              <a:latin typeface="Arial"/>
            </a:endParaRPr>
          </a:p>
        </p:txBody>
      </p:sp>
      <p:sp>
        <p:nvSpPr>
          <p:cNvPr id="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7"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079DF3E-595F-41A7-B5BB-5A7C43B0CA30}"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21E138-F3FB-4BF9-B4EC-659A34E61A5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Fine-mapping narrows an association signal to a small set of candidate causal variants. This deck walks through the simplest version, on simulated data, and two checks worth running before trusting it.</a:t>
            </a:r>
            <a:endParaRPr lang="en-US" sz="2000" b="0" u="none" strike="noStrike">
              <a:solidFill>
                <a:srgbClr val="000000"/>
              </a:solidFill>
              <a:effectLst/>
              <a:uFillTx/>
              <a:latin typeface="Arial"/>
            </a:endParaRPr>
          </a:p>
        </p:txBody>
      </p:sp>
      <p:sp>
        <p:nvSpPr>
          <p:cNvPr id="31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316388-0637-4046-B8C3-C144A5339BD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With one causal SNP and a uniform prior, PIP_j is the Bayes factor of SNP j normalised over the locus. The credible set is built by adding SNPs in decreasing PIP until 95% of the posterior mass is covered. Because only marginal z-scores enter, LD is used implicitly (through the z-scores) but no LD matrix is needed.</a:t>
            </a:r>
            <a:endParaRPr lang="en-US" sz="2000" b="0" u="none" strike="noStrike">
              <a:solidFill>
                <a:srgbClr val="000000"/>
              </a:solidFill>
              <a:effectLst/>
              <a:uFillTx/>
              <a:latin typeface="Arial"/>
            </a:endParaRPr>
          </a:p>
        </p:txBody>
      </p:sp>
      <p:sp>
        <p:nvSpPr>
          <p:cNvPr id="31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93E0A8-6EA8-4FAD-AC72-2C305659E7E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Adjacent latent correlation drawn from 0.97–0.995 per locus; minor allele frequency 0.05–0.5. Causal SNPs are placed away from the locus edges. The trait is standardized after simulation.</a:t>
            </a:r>
            <a:endParaRPr lang="en-US" sz="2000" b="0" u="none" strike="noStrike">
              <a:solidFill>
                <a:srgbClr val="000000"/>
              </a:solidFill>
              <a:effectLst/>
              <a:uFillTx/>
              <a:latin typeface="Arial"/>
            </a:endParaRPr>
          </a:p>
        </p:txBody>
      </p:sp>
      <p:sp>
        <p:nvSpPr>
          <p:cNvPr id="31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DD95D1-F6B7-4E18-B323-0DEBCDC31F5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 this locus SNP 113 has the largest |z| (6.1) and PIP 0.76; the causal SNP 109 has |z| 5.6 and PIP 0.04, yet it is inside the 3-SNP credible set. The locus was chosen to illustrate this case; across loci the lead SNP is often causal (next slide).</a:t>
            </a:r>
            <a:endParaRPr lang="en-US" sz="2000" b="0" u="none" strike="noStrike">
              <a:solidFill>
                <a:srgbClr val="000000"/>
              </a:solidFill>
              <a:effectLst/>
              <a:uFillTx/>
              <a:latin typeface="Arial"/>
            </a:endParaRPr>
          </a:p>
        </p:txBody>
      </p:sp>
      <p:sp>
        <p:nvSpPr>
          <p:cNvPr id="32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4323ED-B639-4635-9BAA-A8D62E20913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PVE = variance in the trait explained by the causal SNP. Coverage = share of loci whose 95% set contains the causal SNP. Coverage stays at the nominal level or above because the model matches the simulation; set size shrinks quickly with effect size.</a:t>
            </a:r>
            <a:endParaRPr lang="en-US" sz="2000" b="0" u="none" strike="noStrike">
              <a:solidFill>
                <a:srgbClr val="000000"/>
              </a:solidFill>
              <a:effectLst/>
              <a:uFillTx/>
              <a:latin typeface="Arial"/>
            </a:endParaRPr>
          </a:p>
        </p:txBody>
      </p:sp>
      <p:sp>
        <p:nvSpPr>
          <p:cNvPr id="32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B42E30-8985-4876-9856-23A22D2E430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single-effect assumption is the main limitation of this simple model. Multi-signal fine-mapping needs the LD matrix, which is why the z-score check on the next slide matters.</a:t>
            </a:r>
            <a:endParaRPr lang="en-US" sz="2000" b="0" u="none" strike="noStrike">
              <a:solidFill>
                <a:srgbClr val="000000"/>
              </a:solidFill>
              <a:effectLst/>
              <a:uFillTx/>
              <a:latin typeface="Arial"/>
            </a:endParaRPr>
          </a:p>
        </p:txBody>
      </p:sp>
      <p:sp>
        <p:nvSpPr>
          <p:cNvPr id="32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DB5C48-C73E-4D48-8BDC-4A2F6E5939B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For each SNP, the expected z given all the others under the LD matrix (lightly regularized) is compared with the observed z. A SNP whose alleles are coded differently in study and reference has its LD signs reversed and stands far off the diagonal. In these simulations the reference came from the same model as the study, so detection was easy at every panel size; real panels are less well matched.</a:t>
            </a:r>
            <a:endParaRPr lang="en-US" sz="2000" b="0" u="none" strike="noStrike">
              <a:solidFill>
                <a:srgbClr val="000000"/>
              </a:solidFill>
              <a:effectLst/>
              <a:uFillTx/>
              <a:latin typeface="Arial"/>
            </a:endParaRPr>
          </a:p>
        </p:txBody>
      </p:sp>
      <p:sp>
        <p:nvSpPr>
          <p:cNvPr id="32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5987BE-0305-4B4F-A0D3-7185796609A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4CCEDF-2BBD-46D3-A723-078DA459AA2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Numbers behind each point: slides 5, 6 and 8.</a:t>
            </a:r>
            <a:endParaRPr lang="en-US" sz="2000" b="0" u="none" strike="noStrike">
              <a:solidFill>
                <a:srgbClr val="000000"/>
              </a:solidFill>
              <a:effectLst/>
              <a:uFillTx/>
              <a:latin typeface="Arial"/>
            </a:endParaRPr>
          </a:p>
        </p:txBody>
      </p:sp>
      <p:sp>
        <p:nvSpPr>
          <p:cNvPr id="33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D360A2-1D65-4EBD-9F4E-963BD17673E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685800" y="1143000"/>
            <a:ext cx="5486040" cy="3085920"/>
          </a:xfrm>
          <a:prstGeom prst="rect">
            <a:avLst/>
          </a:prstGeom>
          <a:ln w="0">
            <a:noFill/>
          </a:ln>
        </p:spPr>
      </p:sp>
      <p:sp>
        <p:nvSpPr>
          <p:cNvPr id="3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05BA96-1B13-4A82-A5AF-DEFC9644198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A8C02E-1E29-4C06-90F0-2EDFB714C72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A3313BD-FD64-4BED-A8D2-12500EF911F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sldNum" idx="1"/>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ED2182BB-A2EB-4488-BBBD-BC5CA1778756}" type="slidenum">
              <a:rPr lang="en-US" sz="1400" b="0" u="none" strike="noStrike">
                <a:solidFill>
                  <a:srgbClr val="162B43"/>
                </a:solidFill>
                <a:effectLst/>
                <a:uFillTx/>
                <a:latin typeface="Arial"/>
                <a:ea typeface="Arial"/>
              </a:rPr>
              <a:t>&lt;number&gt;</a:t>
            </a:fld>
            <a:endParaRPr lang="en-US" sz="1400" b="0" u="none" strike="noStrike">
              <a:solidFill>
                <a:srgbClr val="000000"/>
              </a:solidFill>
              <a:effectLst/>
              <a:uFillTx/>
              <a:latin typeface="Times New Roman"/>
            </a:endParaRPr>
          </a:p>
        </p:txBody>
      </p:sp>
      <p:sp>
        <p:nvSpPr>
          <p:cNvPr id="3"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rial"/>
              </a:defRPr>
            </a:lvl1pPr>
          </a:lstStyle>
          <a:p>
            <a:pPr indent="0" algn="l">
              <a:buNone/>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
        <p:nvSpPr>
          <p:cNvPr id="4"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rial"/>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rial"/>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rial"/>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rial"/>
              </a:rPr>
              <a:t>Click to edit the outline text format</a:t>
            </a:r>
            <a:endParaRPr lang="en-US" sz="3200" b="0" u="none" strike="noStrike">
              <a:solidFill>
                <a:schemeClr val="dk1"/>
              </a:solidFill>
              <a:effectLst/>
              <a:uFillTx/>
              <a:latin typeface="Arial"/>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rial"/>
              </a:rPr>
              <a:t>Second Outline Level</a:t>
            </a:r>
            <a:endParaRPr lang="en-US" sz="2400" b="0" u="none" strike="noStrike">
              <a:solidFill>
                <a:schemeClr val="dk1"/>
              </a:solidFill>
              <a:effectLst/>
              <a:uFillTx/>
              <a:latin typeface="Arial"/>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rial"/>
              </a:rPr>
              <a:t>Third Outline Level</a:t>
            </a:r>
            <a:endParaRPr lang="en-US" sz="2000" b="0" u="none" strike="noStrike">
              <a:solidFill>
                <a:schemeClr val="dk1"/>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rial"/>
              </a:rPr>
              <a:t>Fourth Outline Level</a:t>
            </a:r>
            <a:endParaRPr lang="en-US" sz="2000" b="0" u="none" strike="noStrike">
              <a:solidFill>
                <a:schemeClr val="dk1"/>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emf"/><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Methods tutorial</a:t>
            </a:r>
            <a:endParaRPr lang="en-US" sz="2400" b="0" u="none" strike="noStrike">
              <a:solidFill>
                <a:srgbClr val="000000"/>
              </a:solidFill>
              <a:effectLst/>
              <a:uFillTx/>
              <a:latin typeface="Arial"/>
            </a:endParaRPr>
          </a:p>
        </p:txBody>
      </p:sp>
      <p:sp>
        <p:nvSpPr>
          <p:cNvPr id="13" name="Text 2"/>
          <p:cNvSpPr/>
          <p:nvPr/>
        </p:nvSpPr>
        <p:spPr>
          <a:xfrm>
            <a:off x="557640" y="731520"/>
            <a:ext cx="11130480" cy="2739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1" u="none" strike="noStrike">
                <a:solidFill>
                  <a:srgbClr val="53677F"/>
                </a:solidFill>
                <a:effectLst/>
                <a:uFillTx/>
                <a:latin typeface="Arial"/>
                <a:ea typeface="Arial"/>
              </a:rPr>
              <a:t>Statistical genetics reading group · example deck</a:t>
            </a:r>
            <a:endParaRPr lang="en-US" sz="1400" b="0" u="none" strike="noStrike">
              <a:solidFill>
                <a:srgbClr val="000000"/>
              </a:solidFill>
              <a:effectLst/>
              <a:uFillTx/>
              <a:latin typeface="Arial"/>
            </a:endParaRPr>
          </a:p>
        </p:txBody>
      </p:sp>
      <p:sp>
        <p:nvSpPr>
          <p:cNvPr id="14" name="Shape 3"/>
          <p:cNvSpPr/>
          <p:nvPr/>
        </p:nvSpPr>
        <p:spPr>
          <a:xfrm>
            <a:off x="557640" y="1371600"/>
            <a:ext cx="11130480" cy="4343040"/>
          </a:xfrm>
          <a:prstGeom prst="roundRect">
            <a:avLst>
              <a:gd name="adj" fmla="val 1684"/>
            </a:avLst>
          </a:prstGeom>
          <a:solidFill>
            <a:srgbClr val="162B4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Shape 4"/>
          <p:cNvSpPr/>
          <p:nvPr/>
        </p:nvSpPr>
        <p:spPr>
          <a:xfrm>
            <a:off x="1014840" y="1938600"/>
            <a:ext cx="822600" cy="54360"/>
          </a:xfrm>
          <a:prstGeom prst="rect">
            <a:avLst/>
          </a:prstGeom>
          <a:solidFill>
            <a:srgbClr val="7FD1C7"/>
          </a:solidFill>
          <a:ln w="0">
            <a:noFill/>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16" name="Text 5"/>
          <p:cNvSpPr/>
          <p:nvPr/>
        </p:nvSpPr>
        <p:spPr>
          <a:xfrm>
            <a:off x="1014840" y="2148840"/>
            <a:ext cx="1021608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600" b="1" u="none" strike="noStrike">
                <a:solidFill>
                  <a:srgbClr val="FFFFFF"/>
                </a:solidFill>
                <a:effectLst/>
                <a:uFillTx/>
                <a:latin typeface="Arial"/>
                <a:ea typeface="Arial"/>
              </a:rPr>
              <a:t>Fine-mapping from summary statistics: a worked example</a:t>
            </a:r>
            <a:endParaRPr lang="en-US" sz="3600" b="0" u="none" strike="noStrike">
              <a:solidFill>
                <a:srgbClr val="000000"/>
              </a:solidFill>
              <a:effectLst/>
              <a:uFillTx/>
              <a:latin typeface="Arial"/>
            </a:endParaRPr>
          </a:p>
        </p:txBody>
      </p:sp>
      <p:sp>
        <p:nvSpPr>
          <p:cNvPr id="17" name="Text 6"/>
          <p:cNvSpPr/>
          <p:nvPr/>
        </p:nvSpPr>
        <p:spPr>
          <a:xfrm>
            <a:off x="1014840" y="3611880"/>
            <a:ext cx="10216080" cy="365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000" b="0" u="none" strike="noStrike">
                <a:solidFill>
                  <a:srgbClr val="C9D6E6"/>
                </a:solidFill>
                <a:effectLst/>
                <a:uFillTx/>
                <a:latin typeface="Arial"/>
                <a:ea typeface="Arial"/>
              </a:rPr>
              <a:t>Single-effect model, credible sets and a z-score check</a:t>
            </a:r>
            <a:endParaRPr lang="en-US" sz="2000" b="0" u="none" strike="noStrike">
              <a:solidFill>
                <a:srgbClr val="000000"/>
              </a:solidFill>
              <a:effectLst/>
              <a:uFillTx/>
              <a:latin typeface="Arial"/>
            </a:endParaRPr>
          </a:p>
        </p:txBody>
      </p:sp>
      <p:sp>
        <p:nvSpPr>
          <p:cNvPr id="18" name="Text 7"/>
          <p:cNvSpPr/>
          <p:nvPr/>
        </p:nvSpPr>
        <p:spPr>
          <a:xfrm>
            <a:off x="1014840" y="4050720"/>
            <a:ext cx="10216080" cy="365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000" b="0" u="none" strike="noStrike">
                <a:solidFill>
                  <a:srgbClr val="C9D6E6"/>
                </a:solidFill>
                <a:effectLst/>
                <a:uFillTx/>
                <a:latin typeface="Arial"/>
                <a:ea typeface="Arial"/>
              </a:rPr>
              <a:t>All data simulated</a:t>
            </a:r>
            <a:endParaRPr lang="en-US" sz="2000" b="0" u="none" strike="noStrike">
              <a:solidFill>
                <a:srgbClr val="000000"/>
              </a:solidFill>
              <a:effectLst/>
              <a:uFillTx/>
              <a:latin typeface="Arial"/>
            </a:endParaRPr>
          </a:p>
        </p:txBody>
      </p:sp>
      <p:sp>
        <p:nvSpPr>
          <p:cNvPr id="19" name="Text 8"/>
          <p:cNvSpPr/>
          <p:nvPr/>
        </p:nvSpPr>
        <p:spPr>
          <a:xfrm>
            <a:off x="1014840" y="4983480"/>
            <a:ext cx="10216080" cy="365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7FD1C7"/>
                </a:solidFill>
                <a:effectLst/>
                <a:uFillTx/>
                <a:latin typeface="Arial"/>
                <a:ea typeface="Arial"/>
              </a:rPr>
              <a:t>Example deck made with research-slides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Fine-mapping usually starts from summary statistics</a:t>
            </a:r>
            <a:endParaRPr lang="en-US" sz="2400" b="0" u="none" strike="noStrike">
              <a:solidFill>
                <a:srgbClr val="000000"/>
              </a:solidFill>
              <a:effectLst/>
              <a:uFillTx/>
              <a:latin typeface="Arial"/>
            </a:endParaRPr>
          </a:p>
        </p:txBody>
      </p:sp>
      <p:sp>
        <p:nvSpPr>
          <p:cNvPr id="22"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Genotypes are hard to share; z-scores and reference LD are not</a:t>
            </a:r>
            <a:endParaRPr lang="en-US" sz="1400" b="0" u="none" strike="noStrike">
              <a:solidFill>
                <a:srgbClr val="000000"/>
              </a:solidFill>
              <a:effectLst/>
              <a:uFillTx/>
              <a:latin typeface="Arial"/>
            </a:endParaRPr>
          </a:p>
        </p:txBody>
      </p:sp>
      <p:sp>
        <p:nvSpPr>
          <p:cNvPr id="23"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4" name="Shape 4"/>
          <p:cNvSpPr/>
          <p:nvPr/>
        </p:nvSpPr>
        <p:spPr>
          <a:xfrm>
            <a:off x="557640" y="1371600"/>
            <a:ext cx="2494440" cy="1234080"/>
          </a:xfrm>
          <a:prstGeom prst="roundRect">
            <a:avLst>
              <a:gd name="adj" fmla="val 2593"/>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Shape 5"/>
          <p:cNvSpPr/>
          <p:nvPr/>
        </p:nvSpPr>
        <p:spPr>
          <a:xfrm>
            <a:off x="557640" y="1371600"/>
            <a:ext cx="54360" cy="1234080"/>
          </a:xfrm>
          <a:prstGeom prst="rect">
            <a:avLst/>
          </a:prstGeom>
          <a:solidFill>
            <a:srgbClr val="162B4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 name="Text 6"/>
          <p:cNvSpPr/>
          <p:nvPr/>
        </p:nvSpPr>
        <p:spPr>
          <a:xfrm>
            <a:off x="78624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162B43"/>
                </a:solidFill>
                <a:effectLst/>
                <a:uFillTx/>
                <a:latin typeface="Arial"/>
                <a:ea typeface="Arial"/>
              </a:rPr>
              <a:t>z-scores</a:t>
            </a:r>
            <a:endParaRPr lang="en-US" sz="1440" b="0" u="none" strike="noStrike">
              <a:solidFill>
                <a:srgbClr val="000000"/>
              </a:solidFill>
              <a:effectLst/>
              <a:uFillTx/>
              <a:latin typeface="Arial"/>
            </a:endParaRPr>
          </a:p>
        </p:txBody>
      </p:sp>
      <p:sp>
        <p:nvSpPr>
          <p:cNvPr id="27" name="Text 7"/>
          <p:cNvSpPr/>
          <p:nvPr/>
        </p:nvSpPr>
        <p:spPr>
          <a:xfrm>
            <a:off x="786240" y="1920240"/>
            <a:ext cx="2128680" cy="59400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one per SNP, from the association study</a:t>
            </a:r>
            <a:endParaRPr lang="en-US" sz="1400" b="0" u="none" strike="noStrike">
              <a:solidFill>
                <a:srgbClr val="000000"/>
              </a:solidFill>
              <a:effectLst/>
              <a:uFillTx/>
              <a:latin typeface="Arial"/>
            </a:endParaRPr>
          </a:p>
        </p:txBody>
      </p:sp>
      <p:sp>
        <p:nvSpPr>
          <p:cNvPr id="28" name="Shape 8"/>
          <p:cNvSpPr/>
          <p:nvPr/>
        </p:nvSpPr>
        <p:spPr>
          <a:xfrm>
            <a:off x="3125520" y="1988640"/>
            <a:ext cx="237600" cy="360"/>
          </a:xfrm>
          <a:prstGeom prst="line">
            <a:avLst/>
          </a:prstGeom>
          <a:ln w="25400">
            <a:solidFill>
              <a:srgbClr val="5E6B6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 name="Shape 9"/>
          <p:cNvSpPr/>
          <p:nvPr/>
        </p:nvSpPr>
        <p:spPr>
          <a:xfrm>
            <a:off x="3436560" y="1371600"/>
            <a:ext cx="2494440" cy="1234080"/>
          </a:xfrm>
          <a:prstGeom prst="roundRect">
            <a:avLst>
              <a:gd name="adj" fmla="val 2593"/>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 name="Shape 10"/>
          <p:cNvSpPr/>
          <p:nvPr/>
        </p:nvSpPr>
        <p:spPr>
          <a:xfrm>
            <a:off x="3436560" y="1371600"/>
            <a:ext cx="54360" cy="1234080"/>
          </a:xfrm>
          <a:prstGeom prst="rect">
            <a:avLst/>
          </a:prstGeom>
          <a:solidFill>
            <a:srgbClr val="162B4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 name="Text 11"/>
          <p:cNvSpPr/>
          <p:nvPr/>
        </p:nvSpPr>
        <p:spPr>
          <a:xfrm>
            <a:off x="366516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162B43"/>
                </a:solidFill>
                <a:effectLst/>
                <a:uFillTx/>
                <a:latin typeface="Arial"/>
                <a:ea typeface="Arial"/>
              </a:rPr>
              <a:t>LD matrix</a:t>
            </a:r>
            <a:endParaRPr lang="en-US" sz="1440" b="0" u="none" strike="noStrike">
              <a:solidFill>
                <a:srgbClr val="000000"/>
              </a:solidFill>
              <a:effectLst/>
              <a:uFillTx/>
              <a:latin typeface="Arial"/>
            </a:endParaRPr>
          </a:p>
        </p:txBody>
      </p:sp>
      <p:sp>
        <p:nvSpPr>
          <p:cNvPr id="32" name="Text 12"/>
          <p:cNvSpPr/>
          <p:nvPr/>
        </p:nvSpPr>
        <p:spPr>
          <a:xfrm>
            <a:off x="3665160" y="1920240"/>
            <a:ext cx="2128680" cy="59400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from a reference panel matched to the study</a:t>
            </a:r>
            <a:endParaRPr lang="en-US" sz="1400" b="0" u="none" strike="noStrike">
              <a:solidFill>
                <a:srgbClr val="000000"/>
              </a:solidFill>
              <a:effectLst/>
              <a:uFillTx/>
              <a:latin typeface="Arial"/>
            </a:endParaRPr>
          </a:p>
        </p:txBody>
      </p:sp>
      <p:sp>
        <p:nvSpPr>
          <p:cNvPr id="33" name="Shape 13"/>
          <p:cNvSpPr/>
          <p:nvPr/>
        </p:nvSpPr>
        <p:spPr>
          <a:xfrm>
            <a:off x="6004080" y="1988640"/>
            <a:ext cx="237960" cy="360"/>
          </a:xfrm>
          <a:prstGeom prst="line">
            <a:avLst/>
          </a:prstGeom>
          <a:ln w="25400">
            <a:solidFill>
              <a:srgbClr val="5E6B6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4" name="Shape 14"/>
          <p:cNvSpPr/>
          <p:nvPr/>
        </p:nvSpPr>
        <p:spPr>
          <a:xfrm>
            <a:off x="6315480" y="1371600"/>
            <a:ext cx="2494440" cy="1234080"/>
          </a:xfrm>
          <a:prstGeom prst="roundRect">
            <a:avLst>
              <a:gd name="adj" fmla="val 2593"/>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Shape 15"/>
          <p:cNvSpPr/>
          <p:nvPr/>
        </p:nvSpPr>
        <p:spPr>
          <a:xfrm>
            <a:off x="6315480" y="1371600"/>
            <a:ext cx="54360" cy="1234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 name="Text 16"/>
          <p:cNvSpPr/>
          <p:nvPr/>
        </p:nvSpPr>
        <p:spPr>
          <a:xfrm>
            <a:off x="654408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315DA8"/>
                </a:solidFill>
                <a:effectLst/>
                <a:uFillTx/>
                <a:latin typeface="Arial"/>
                <a:ea typeface="Arial"/>
              </a:rPr>
              <a:t>Fine-mapping</a:t>
            </a:r>
            <a:endParaRPr lang="en-US" sz="1440" b="0" u="none" strike="noStrike">
              <a:solidFill>
                <a:srgbClr val="000000"/>
              </a:solidFill>
              <a:effectLst/>
              <a:uFillTx/>
              <a:latin typeface="Arial"/>
            </a:endParaRPr>
          </a:p>
        </p:txBody>
      </p:sp>
      <p:sp>
        <p:nvSpPr>
          <p:cNvPr id="37" name="Text 17"/>
          <p:cNvSpPr/>
          <p:nvPr/>
        </p:nvSpPr>
        <p:spPr>
          <a:xfrm>
            <a:off x="6544080" y="1920240"/>
            <a:ext cx="2128680" cy="59400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which SNPs have nonzero effects?</a:t>
            </a:r>
            <a:endParaRPr lang="en-US" sz="1400" b="0" u="none" strike="noStrike">
              <a:solidFill>
                <a:srgbClr val="000000"/>
              </a:solidFill>
              <a:effectLst/>
              <a:uFillTx/>
              <a:latin typeface="Arial"/>
            </a:endParaRPr>
          </a:p>
        </p:txBody>
      </p:sp>
      <p:sp>
        <p:nvSpPr>
          <p:cNvPr id="38" name="Shape 18"/>
          <p:cNvSpPr/>
          <p:nvPr/>
        </p:nvSpPr>
        <p:spPr>
          <a:xfrm>
            <a:off x="8883000" y="1988640"/>
            <a:ext cx="237600" cy="360"/>
          </a:xfrm>
          <a:prstGeom prst="line">
            <a:avLst/>
          </a:prstGeom>
          <a:ln w="25400">
            <a:solidFill>
              <a:srgbClr val="5E6B6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9" name="Shape 19"/>
          <p:cNvSpPr/>
          <p:nvPr/>
        </p:nvSpPr>
        <p:spPr>
          <a:xfrm>
            <a:off x="9194040" y="1371600"/>
            <a:ext cx="2494440" cy="1234080"/>
          </a:xfrm>
          <a:prstGeom prst="roundRect">
            <a:avLst>
              <a:gd name="adj" fmla="val 2593"/>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Shape 20"/>
          <p:cNvSpPr/>
          <p:nvPr/>
        </p:nvSpPr>
        <p:spPr>
          <a:xfrm>
            <a:off x="9194040" y="1371600"/>
            <a:ext cx="54360" cy="123408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Text 21"/>
          <p:cNvSpPr/>
          <p:nvPr/>
        </p:nvSpPr>
        <p:spPr>
          <a:xfrm>
            <a:off x="942264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167E82"/>
                </a:solidFill>
                <a:effectLst/>
                <a:uFillTx/>
                <a:latin typeface="Arial"/>
                <a:ea typeface="Arial"/>
              </a:rPr>
              <a:t>PIPs and credible sets</a:t>
            </a:r>
            <a:endParaRPr lang="en-US" sz="1440" b="0" u="none" strike="noStrike">
              <a:solidFill>
                <a:srgbClr val="000000"/>
              </a:solidFill>
              <a:effectLst/>
              <a:uFillTx/>
              <a:latin typeface="Arial"/>
            </a:endParaRPr>
          </a:p>
        </p:txBody>
      </p:sp>
      <p:sp>
        <p:nvSpPr>
          <p:cNvPr id="42" name="Text 22"/>
          <p:cNvSpPr/>
          <p:nvPr/>
        </p:nvSpPr>
        <p:spPr>
          <a:xfrm>
            <a:off x="9422640" y="1920240"/>
            <a:ext cx="2128680" cy="59400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candidate causal variants</a:t>
            </a:r>
            <a:endParaRPr lang="en-US" sz="1400" b="0" u="none" strike="noStrike">
              <a:solidFill>
                <a:srgbClr val="000000"/>
              </a:solidFill>
              <a:effectLst/>
              <a:uFillTx/>
              <a:latin typeface="Arial"/>
            </a:endParaRPr>
          </a:p>
        </p:txBody>
      </p:sp>
      <p:sp>
        <p:nvSpPr>
          <p:cNvPr id="43" name="Shape 23"/>
          <p:cNvSpPr/>
          <p:nvPr/>
        </p:nvSpPr>
        <p:spPr>
          <a:xfrm>
            <a:off x="557640" y="3063240"/>
            <a:ext cx="5394600" cy="1508400"/>
          </a:xfrm>
          <a:prstGeom prst="roundRect">
            <a:avLst>
              <a:gd name="adj" fmla="val 212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 name="Shape 24"/>
          <p:cNvSpPr/>
          <p:nvPr/>
        </p:nvSpPr>
        <p:spPr>
          <a:xfrm>
            <a:off x="557640" y="3063240"/>
            <a:ext cx="54360" cy="15084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Text 25"/>
          <p:cNvSpPr/>
          <p:nvPr/>
        </p:nvSpPr>
        <p:spPr>
          <a:xfrm>
            <a:off x="786240" y="3200400"/>
            <a:ext cx="502884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2B43"/>
                </a:solidFill>
                <a:effectLst/>
                <a:uFillTx/>
                <a:latin typeface="Arial"/>
                <a:ea typeface="Arial"/>
              </a:rPr>
              <a:t>Individual-level genotypes</a:t>
            </a:r>
            <a:endParaRPr lang="en-US" sz="1600" b="0" u="none" strike="noStrike">
              <a:solidFill>
                <a:srgbClr val="000000"/>
              </a:solidFill>
              <a:effectLst/>
              <a:uFillTx/>
              <a:latin typeface="Arial"/>
            </a:endParaRPr>
          </a:p>
        </p:txBody>
      </p:sp>
      <p:sp>
        <p:nvSpPr>
          <p:cNvPr id="46" name="Text 26"/>
          <p:cNvSpPr/>
          <p:nvPr/>
        </p:nvSpPr>
        <p:spPr>
          <a:xfrm>
            <a:off x="786240" y="3611880"/>
            <a:ext cx="5028840" cy="86832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600" b="0" u="none" strike="noStrike">
                <a:solidFill>
                  <a:srgbClr val="40546C"/>
                </a:solidFill>
                <a:effectLst/>
                <a:uFillTx/>
                <a:latin typeface="Arial"/>
                <a:ea typeface="Arial"/>
              </a:rPr>
              <a:t>Often unavailable for consent and privacy reasons</a:t>
            </a:r>
            <a:endParaRPr lang="en-US" sz="1600" b="0" u="none" strike="noStrike">
              <a:solidFill>
                <a:srgbClr val="000000"/>
              </a:solidFill>
              <a:effectLst/>
              <a:uFillTx/>
              <a:latin typeface="Arial"/>
            </a:endParaRPr>
          </a:p>
        </p:txBody>
      </p:sp>
      <p:sp>
        <p:nvSpPr>
          <p:cNvPr id="47" name="Shape 27"/>
          <p:cNvSpPr/>
          <p:nvPr/>
        </p:nvSpPr>
        <p:spPr>
          <a:xfrm>
            <a:off x="6291000" y="3063240"/>
            <a:ext cx="5397480" cy="1508400"/>
          </a:xfrm>
          <a:prstGeom prst="roundRect">
            <a:avLst>
              <a:gd name="adj" fmla="val 212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 name="Shape 28"/>
          <p:cNvSpPr/>
          <p:nvPr/>
        </p:nvSpPr>
        <p:spPr>
          <a:xfrm>
            <a:off x="6291000" y="3063240"/>
            <a:ext cx="54360" cy="150840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Text 29"/>
          <p:cNvSpPr/>
          <p:nvPr/>
        </p:nvSpPr>
        <p:spPr>
          <a:xfrm>
            <a:off x="6519600" y="3200400"/>
            <a:ext cx="503172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7E82"/>
                </a:solidFill>
                <a:effectLst/>
                <a:uFillTx/>
                <a:latin typeface="Arial"/>
                <a:ea typeface="Arial"/>
              </a:rPr>
              <a:t>Summary statistics</a:t>
            </a:r>
            <a:endParaRPr lang="en-US" sz="1600" b="0" u="none" strike="noStrike">
              <a:solidFill>
                <a:srgbClr val="000000"/>
              </a:solidFill>
              <a:effectLst/>
              <a:uFillTx/>
              <a:latin typeface="Arial"/>
            </a:endParaRPr>
          </a:p>
        </p:txBody>
      </p:sp>
      <p:sp>
        <p:nvSpPr>
          <p:cNvPr id="50" name="Text 30"/>
          <p:cNvSpPr/>
          <p:nvPr/>
        </p:nvSpPr>
        <p:spPr>
          <a:xfrm>
            <a:off x="6519600" y="3611880"/>
            <a:ext cx="5031720" cy="86832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600" b="0" u="none" strike="noStrike">
                <a:solidFill>
                  <a:srgbClr val="40546C"/>
                </a:solidFill>
                <a:effectLst/>
                <a:uFillTx/>
                <a:latin typeface="Arial"/>
                <a:ea typeface="Arial"/>
              </a:rPr>
              <a:t>Widely shared, and enough for a first fine-mapping pass</a:t>
            </a:r>
            <a:endParaRPr lang="en-US" sz="1600" b="0" u="none" strike="noStrike">
              <a:solidFill>
                <a:srgbClr val="000000"/>
              </a:solidFill>
              <a:effectLst/>
              <a:uFillTx/>
              <a:latin typeface="Arial"/>
            </a:endParaRPr>
          </a:p>
        </p:txBody>
      </p:sp>
      <p:sp>
        <p:nvSpPr>
          <p:cNvPr id="51" name="PlaceHolder 1"/>
          <p:cNvSpPr>
            <a:spLocks noGrp="1"/>
          </p:cNvSpPr>
          <p:nvPr>
            <p:ph type="sldNum" idx="5"/>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C77A8B48-80CD-4553-9FB1-5AC4C183DD8E}" type="slidenum">
              <a:rPr lang="en-US" sz="1400" b="0" u="none" strike="noStrike">
                <a:solidFill>
                  <a:srgbClr val="162B43"/>
                </a:solidFill>
                <a:effectLst/>
                <a:uFillTx/>
                <a:latin typeface="Arial"/>
                <a:ea typeface="Arial"/>
              </a:rPr>
              <a:t>1</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The single-effect model needs no LD matrix</a:t>
            </a:r>
            <a:endParaRPr lang="en-US" sz="2400" b="0" u="none" strike="noStrike">
              <a:solidFill>
                <a:srgbClr val="000000"/>
              </a:solidFill>
              <a:effectLst/>
              <a:uFillTx/>
              <a:latin typeface="Arial"/>
            </a:endParaRPr>
          </a:p>
        </p:txBody>
      </p:sp>
      <p:sp>
        <p:nvSpPr>
          <p:cNvPr id="54"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Assume exactly one causal SNP in the locus and a uniform prior over SNPs</a:t>
            </a:r>
            <a:endParaRPr lang="en-US" sz="1400" b="0" u="none" strike="noStrike">
              <a:solidFill>
                <a:srgbClr val="000000"/>
              </a:solidFill>
              <a:effectLst/>
              <a:uFillTx/>
              <a:latin typeface="Arial"/>
            </a:endParaRPr>
          </a:p>
        </p:txBody>
      </p:sp>
      <p:sp>
        <p:nvSpPr>
          <p:cNvPr id="55"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6" name="Shape 4"/>
          <p:cNvSpPr/>
          <p:nvPr/>
        </p:nvSpPr>
        <p:spPr>
          <a:xfrm>
            <a:off x="557640" y="1371600"/>
            <a:ext cx="6217560" cy="1965600"/>
          </a:xfrm>
          <a:prstGeom prst="roundRect">
            <a:avLst>
              <a:gd name="adj" fmla="val 1628"/>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Shape 5"/>
          <p:cNvSpPr/>
          <p:nvPr/>
        </p:nvSpPr>
        <p:spPr>
          <a:xfrm>
            <a:off x="557640" y="1371600"/>
            <a:ext cx="54360" cy="19656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 name="Text 6"/>
          <p:cNvSpPr/>
          <p:nvPr/>
        </p:nvSpPr>
        <p:spPr>
          <a:xfrm>
            <a:off x="786240" y="1508760"/>
            <a:ext cx="585180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2B43"/>
                </a:solidFill>
                <a:effectLst/>
                <a:uFillTx/>
                <a:latin typeface="Arial"/>
                <a:ea typeface="Arial"/>
              </a:rPr>
              <a:t>Evidence for SNP j: approximate Bayes factor</a:t>
            </a:r>
            <a:endParaRPr lang="en-US" sz="1600" b="0" u="none" strike="noStrike">
              <a:solidFill>
                <a:srgbClr val="000000"/>
              </a:solidFill>
              <a:effectLst/>
              <a:uFillTx/>
              <a:latin typeface="Arial"/>
            </a:endParaRPr>
          </a:p>
        </p:txBody>
      </p:sp>
      <mc:AlternateContent>
        <mc:Choice xmlns:a14="http://schemas.microsoft.com/office/drawing/2010/main" Requires="a14">
          <p:sp>
            <p:nvSpPr>
              <p:cNvPr id="59" name="Text 7"/>
              <p:cNvSpPr txBox="1"/>
              <p:nvPr/>
            </p:nvSpPr>
            <p:spPr>
              <a:xfrm>
                <a:off x="786240" y="1874520"/>
                <a:ext cx="5120280" cy="1096920"/>
              </a:xfrm>
              <a:prstGeom prst="rect">
                <a:avLst/>
              </a:prstGeom>
            </p:spPr>
            <p:txBody>
              <a:bodyPr/>
              <a:p>
                <a14:m>
                  <m:oMath xmlns:m="http://schemas.openxmlformats.org/officeDocument/2006/math">
                    <m:sSub>
                      <m:e>
                        <m:r>
                          <m:rPr>
                            <m:lit/>
                            <m:nor/>
                          </m:rPr>
                          <m:t xml:space="preserve">ABF</m:t>
                        </m:r>
                      </m:e>
                      <m:sub>
                        <m:r>
                          <m:t xml:space="preserve">j</m:t>
                        </m:r>
                      </m:sub>
                    </m:sSub>
                    <m:r>
                      <m:rPr>
                        <m:lit/>
                        <m:nor/>
                      </m:rPr>
                      <m:t xml:space="preserve"> </m:t>
                    </m:r>
                    <m:r>
                      <m:rPr>
                        <m:lit/>
                        <m:nor/>
                      </m:rPr>
                      <m:t xml:space="preserve">=</m:t>
                    </m:r>
                    <m:r>
                      <m:rPr>
                        <m:lit/>
                        <m:nor/>
                      </m:rPr>
                      <m:t xml:space="preserve"> </m:t>
                    </m:r>
                    <m:rad>
                      <m:radPr>
                        <m:degHide m:val="1"/>
                      </m:radPr>
                      <m:deg/>
                      <m:e>
                        <m:f>
                          <m:num>
                            <m:r>
                              <m:t xml:space="preserve">V</m:t>
                            </m:r>
                          </m:num>
                          <m:den>
                            <m:r>
                              <m:t xml:space="preserve">V</m:t>
                            </m:r>
                            <m:r>
                              <m:rPr>
                                <m:lit/>
                                <m:nor/>
                              </m:rPr>
                              <m:t xml:space="preserve"> </m:t>
                            </m:r>
                            <m:r>
                              <m:rPr>
                                <m:lit/>
                                <m:nor/>
                              </m:rPr>
                              <m:t xml:space="preserve">+</m:t>
                            </m:r>
                            <m:r>
                              <m:rPr>
                                <m:lit/>
                                <m:nor/>
                              </m:rPr>
                              <m:t xml:space="preserve"> </m:t>
                            </m:r>
                            <m:r>
                              <m:t xml:space="preserve">W</m:t>
                            </m:r>
                          </m:den>
                        </m:f>
                      </m:e>
                    </m:rad>
                    <m:r>
                      <m:rPr>
                        <m:lit/>
                        <m:nor/>
                      </m:rPr>
                      <m:t xml:space="preserve"> </m:t>
                    </m:r>
                    <m:r>
                      <m:rPr>
                        <m:lit/>
                        <m:nor/>
                      </m:rPr>
                      <m:t xml:space="preserve">exp</m:t>
                    </m:r>
                    <m:d>
                      <m:dPr>
                        <m:begChr m:val="("/>
                        <m:endChr m:val=")"/>
                      </m:dPr>
                      <m:e>
                        <m:f>
                          <m:num>
                            <m:sSubSup>
                              <m:e>
                                <m:r>
                                  <m:t xml:space="preserve">z</m:t>
                                </m:r>
                              </m:e>
                              <m:sub>
                                <m:r>
                                  <m:t xml:space="preserve">j</m:t>
                                </m:r>
                              </m:sub>
                              <m:sup>
                                <m:r>
                                  <m:t xml:space="preserve">2</m:t>
                                </m:r>
                              </m:sup>
                            </m:sSubSup>
                            <m:r>
                              <m:rPr>
                                <m:lit/>
                                <m:nor/>
                              </m:rPr>
                              <m:t xml:space="preserve"> </m:t>
                            </m:r>
                            <m:r>
                              <m:t xml:space="preserve">W</m:t>
                            </m:r>
                          </m:num>
                          <m:den>
                            <m:r>
                              <m:t xml:space="preserve">2</m:t>
                            </m:r>
                            <m:d>
                              <m:dPr>
                                <m:begChr m:val="("/>
                                <m:endChr m:val=")"/>
                              </m:dPr>
                              <m:e>
                                <m:r>
                                  <m:t xml:space="preserve">V</m:t>
                                </m:r>
                                <m:r>
                                  <m:rPr>
                                    <m:lit/>
                                    <m:nor/>
                                  </m:rPr>
                                  <m:t xml:space="preserve"> </m:t>
                                </m:r>
                                <m:r>
                                  <m:rPr>
                                    <m:lit/>
                                    <m:nor/>
                                  </m:rPr>
                                  <m:t xml:space="preserve">+</m:t>
                                </m:r>
                                <m:r>
                                  <m:rPr>
                                    <m:lit/>
                                    <m:nor/>
                                  </m:rPr>
                                  <m:t xml:space="preserve"> </m:t>
                                </m:r>
                                <m:r>
                                  <m:t xml:space="preserve">W</m:t>
                                </m:r>
                              </m:e>
                            </m:d>
                          </m:den>
                        </m:f>
                      </m:e>
                    </m:d>
                  </m:oMath>
                </a14:m>
              </a:p>
            </p:txBody>
          </p:sp>
        </mc:Choice>
        <mc:Fallback>
          <p:sp>
            <p:nvSpPr>
              <p:cNvPr id="59" name="Text 7"/>
              <p:cNvSpPr txBox="1"/>
              <p:nvPr/>
            </p:nvSpPr>
            <p:spPr>
              <a:xfrm>
                <a:off x="786240" y="1874520"/>
                <a:ext cx="5120280" cy="1096920"/>
              </a:xfrm>
              <a:prstGeom prst="rect">
                <a:avLst/>
              </a:prstGeom>
              <a:blipFill>
                <a:blip r:embed="rId1"/>
                <a:stretch>
                  <a:fillRect/>
                </a:stretch>
              </a:blipFill>
            </p:spPr>
          </p:sp>
        </mc:Fallback>
      </mc:AlternateContent>
      <p:sp>
        <p:nvSpPr>
          <p:cNvPr id="60" name="Text 8"/>
          <p:cNvSpPr/>
          <p:nvPr/>
        </p:nvSpPr>
        <p:spPr>
          <a:xfrm>
            <a:off x="786240" y="2926080"/>
            <a:ext cx="5851800" cy="3196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400" b="0" u="none" strike="noStrike">
                <a:solidFill>
                  <a:srgbClr val="40546C"/>
                </a:solidFill>
                <a:effectLst/>
                <a:uFillTx/>
                <a:latin typeface="Arial"/>
                <a:ea typeface="Arial"/>
              </a:rPr>
              <a:t>V = 1/N, W = prior variance of the effect (prior sd 0.1)</a:t>
            </a:r>
            <a:endParaRPr lang="en-US" sz="1400" b="0" u="none" strike="noStrike">
              <a:solidFill>
                <a:srgbClr val="000000"/>
              </a:solidFill>
              <a:effectLst/>
              <a:uFillTx/>
              <a:latin typeface="Arial"/>
            </a:endParaRPr>
          </a:p>
        </p:txBody>
      </p:sp>
      <p:sp>
        <p:nvSpPr>
          <p:cNvPr id="61" name="Shape 9"/>
          <p:cNvSpPr/>
          <p:nvPr/>
        </p:nvSpPr>
        <p:spPr>
          <a:xfrm>
            <a:off x="557640" y="3566160"/>
            <a:ext cx="6217560" cy="1874160"/>
          </a:xfrm>
          <a:prstGeom prst="roundRect">
            <a:avLst>
              <a:gd name="adj" fmla="val 170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Shape 10"/>
          <p:cNvSpPr/>
          <p:nvPr/>
        </p:nvSpPr>
        <p:spPr>
          <a:xfrm>
            <a:off x="557640" y="3566160"/>
            <a:ext cx="54360" cy="187416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 name="Text 11"/>
          <p:cNvSpPr/>
          <p:nvPr/>
        </p:nvSpPr>
        <p:spPr>
          <a:xfrm>
            <a:off x="786240" y="3703320"/>
            <a:ext cx="585180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2B43"/>
                </a:solidFill>
                <a:effectLst/>
                <a:uFillTx/>
                <a:latin typeface="Arial"/>
                <a:ea typeface="Arial"/>
              </a:rPr>
              <a:t>Posterior inclusion probability</a:t>
            </a:r>
            <a:endParaRPr lang="en-US" sz="1600" b="0" u="none" strike="noStrike">
              <a:solidFill>
                <a:srgbClr val="000000"/>
              </a:solidFill>
              <a:effectLst/>
              <a:uFillTx/>
              <a:latin typeface="Arial"/>
            </a:endParaRPr>
          </a:p>
        </p:txBody>
      </p:sp>
      <mc:AlternateContent>
        <mc:Choice xmlns:a14="http://schemas.microsoft.com/office/drawing/2010/main" Requires="a14">
          <p:sp>
            <p:nvSpPr>
              <p:cNvPr id="64" name="Text 12"/>
              <p:cNvSpPr txBox="1"/>
              <p:nvPr/>
            </p:nvSpPr>
            <p:spPr>
              <a:xfrm>
                <a:off x="786240" y="4023360"/>
                <a:ext cx="3840120" cy="1051200"/>
              </a:xfrm>
              <a:prstGeom prst="rect">
                <a:avLst/>
              </a:prstGeom>
            </p:spPr>
            <p:txBody>
              <a:bodyPr/>
              <a:p>
                <a14:m>
                  <m:oMath xmlns:m="http://schemas.openxmlformats.org/officeDocument/2006/math">
                    <m:sSub>
                      <m:e>
                        <m:r>
                          <m:rPr>
                            <m:lit/>
                            <m:nor/>
                          </m:rPr>
                          <m:t xml:space="preserve">PIP</m:t>
                        </m:r>
                      </m:e>
                      <m:sub>
                        <m:r>
                          <m:t xml:space="preserve">j</m:t>
                        </m:r>
                      </m:sub>
                    </m:sSub>
                    <m:r>
                      <m:rPr>
                        <m:lit/>
                        <m:nor/>
                      </m:rPr>
                      <m:t xml:space="preserve"> </m:t>
                    </m:r>
                    <m:r>
                      <m:rPr>
                        <m:lit/>
                        <m:nor/>
                      </m:rPr>
                      <m:t xml:space="preserve">=</m:t>
                    </m:r>
                    <m:r>
                      <m:rPr>
                        <m:lit/>
                        <m:nor/>
                      </m:rPr>
                      <m:t xml:space="preserve"> </m:t>
                    </m:r>
                    <m:f>
                      <m:num>
                        <m:sSub>
                          <m:e>
                            <m:r>
                              <m:rPr>
                                <m:lit/>
                                <m:nor/>
                              </m:rPr>
                              <m:t xml:space="preserve">ABF</m:t>
                            </m:r>
                          </m:e>
                          <m:sub>
                            <m:r>
                              <m:t xml:space="preserve">j</m:t>
                            </m:r>
                          </m:sub>
                        </m:sSub>
                      </m:num>
                      <m:den>
                        <m:nary>
                          <m:naryPr>
                            <m:chr m:val="∑"/>
                            <m:supHide m:val="1"/>
                          </m:naryPr>
                          <m:sub>
                            <m:r>
                              <m:t xml:space="preserve">k</m:t>
                            </m:r>
                          </m:sub>
                          <m:sup/>
                          <m:e>
                            <m:sSub>
                              <m:e>
                                <m:r>
                                  <m:rPr>
                                    <m:lit/>
                                    <m:nor/>
                                  </m:rPr>
                                  <m:t xml:space="preserve">ABF</m:t>
                                </m:r>
                              </m:e>
                              <m:sub>
                                <m:r>
                                  <m:t xml:space="preserve">k</m:t>
                                </m:r>
                              </m:sub>
                            </m:sSub>
                          </m:e>
                        </m:nary>
                      </m:den>
                    </m:f>
                  </m:oMath>
                </a14:m>
              </a:p>
            </p:txBody>
          </p:sp>
        </mc:Choice>
        <mc:Fallback>
          <p:sp>
            <p:nvSpPr>
              <p:cNvPr id="64" name="Text 12"/>
              <p:cNvSpPr txBox="1"/>
              <p:nvPr/>
            </p:nvSpPr>
            <p:spPr>
              <a:xfrm>
                <a:off x="786240" y="4023360"/>
                <a:ext cx="3840120" cy="1051200"/>
              </a:xfrm>
              <a:prstGeom prst="rect">
                <a:avLst/>
              </a:prstGeom>
              <a:blipFill>
                <a:blip r:embed="rId2"/>
                <a:stretch>
                  <a:fillRect/>
                </a:stretch>
              </a:blipFill>
            </p:spPr>
          </p:sp>
        </mc:Fallback>
      </mc:AlternateContent>
      <p:sp>
        <p:nvSpPr>
          <p:cNvPr id="65" name="Shape 13"/>
          <p:cNvSpPr/>
          <p:nvPr/>
        </p:nvSpPr>
        <p:spPr>
          <a:xfrm>
            <a:off x="7141320" y="1371600"/>
            <a:ext cx="4546800" cy="1220400"/>
          </a:xfrm>
          <a:prstGeom prst="roundRect">
            <a:avLst>
              <a:gd name="adj" fmla="val 2622"/>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 name="Shape 14"/>
          <p:cNvSpPr/>
          <p:nvPr/>
        </p:nvSpPr>
        <p:spPr>
          <a:xfrm>
            <a:off x="7141320" y="1371600"/>
            <a:ext cx="54360" cy="12204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Text 15"/>
          <p:cNvSpPr/>
          <p:nvPr/>
        </p:nvSpPr>
        <p:spPr>
          <a:xfrm>
            <a:off x="7369920" y="1371600"/>
            <a:ext cx="1279800" cy="1220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Credible set</a:t>
            </a:r>
            <a:endParaRPr lang="en-US" sz="1500" b="0" u="none" strike="noStrike">
              <a:solidFill>
                <a:srgbClr val="000000"/>
              </a:solidFill>
              <a:effectLst/>
              <a:uFillTx/>
              <a:latin typeface="Arial"/>
            </a:endParaRPr>
          </a:p>
        </p:txBody>
      </p:sp>
      <p:sp>
        <p:nvSpPr>
          <p:cNvPr id="68" name="Text 16"/>
          <p:cNvSpPr/>
          <p:nvPr/>
        </p:nvSpPr>
        <p:spPr>
          <a:xfrm>
            <a:off x="8741520" y="1371600"/>
            <a:ext cx="2718000" cy="1220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smallest SNP set whose</a:t>
            </a:r>
            <a:endParaRPr lang="en-US" sz="1500" b="0" u="none" strike="noStrike">
              <a:solidFill>
                <a:srgbClr val="000000"/>
              </a:solidFill>
              <a:effectLst/>
              <a:uFillTx/>
              <a:latin typeface="Arial"/>
            </a:endParaRPr>
          </a:p>
          <a:p>
            <a:pPr defTabSz="914400">
              <a:lnSpc>
                <a:spcPct val="105000"/>
              </a:lnSpc>
              <a:tabLst>
                <a:tab pos="0" algn="l"/>
              </a:tabLst>
            </a:pPr>
            <a:r>
              <a:rPr lang="en-US" sz="1500" b="0" u="none" strike="noStrike">
                <a:solidFill>
                  <a:srgbClr val="40546C"/>
                </a:solidFill>
                <a:effectLst/>
                <a:uFillTx/>
                <a:latin typeface="Arial"/>
                <a:ea typeface="Arial"/>
              </a:rPr>
              <a:t>PIPs sum to ≥ 0.95</a:t>
            </a:r>
            <a:endParaRPr lang="en-US" sz="1500" b="0" u="none" strike="noStrike">
              <a:solidFill>
                <a:srgbClr val="000000"/>
              </a:solidFill>
              <a:effectLst/>
              <a:uFillTx/>
              <a:latin typeface="Arial"/>
            </a:endParaRPr>
          </a:p>
        </p:txBody>
      </p:sp>
      <p:sp>
        <p:nvSpPr>
          <p:cNvPr id="69" name="Shape 17"/>
          <p:cNvSpPr/>
          <p:nvPr/>
        </p:nvSpPr>
        <p:spPr>
          <a:xfrm>
            <a:off x="7141320" y="2793600"/>
            <a:ext cx="4546800" cy="1220400"/>
          </a:xfrm>
          <a:prstGeom prst="roundRect">
            <a:avLst>
              <a:gd name="adj" fmla="val 2622"/>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Shape 18"/>
          <p:cNvSpPr/>
          <p:nvPr/>
        </p:nvSpPr>
        <p:spPr>
          <a:xfrm>
            <a:off x="7141320" y="2793600"/>
            <a:ext cx="54360" cy="12204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 name="Text 19"/>
          <p:cNvSpPr/>
          <p:nvPr/>
        </p:nvSpPr>
        <p:spPr>
          <a:xfrm>
            <a:off x="7369920" y="2793600"/>
            <a:ext cx="1279800" cy="1220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Inputs</a:t>
            </a:r>
            <a:endParaRPr lang="en-US" sz="1500" b="0" u="none" strike="noStrike">
              <a:solidFill>
                <a:srgbClr val="000000"/>
              </a:solidFill>
              <a:effectLst/>
              <a:uFillTx/>
              <a:latin typeface="Arial"/>
            </a:endParaRPr>
          </a:p>
        </p:txBody>
      </p:sp>
      <p:sp>
        <p:nvSpPr>
          <p:cNvPr id="72" name="Text 20"/>
          <p:cNvSpPr/>
          <p:nvPr/>
        </p:nvSpPr>
        <p:spPr>
          <a:xfrm>
            <a:off x="8741520" y="2793600"/>
            <a:ext cx="2718000" cy="1220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z-scores, N, prior sd</a:t>
            </a:r>
            <a:endParaRPr lang="en-US" sz="1500" b="0" u="none" strike="noStrike">
              <a:solidFill>
                <a:srgbClr val="000000"/>
              </a:solidFill>
              <a:effectLst/>
              <a:uFillTx/>
              <a:latin typeface="Arial"/>
            </a:endParaRPr>
          </a:p>
        </p:txBody>
      </p:sp>
      <p:sp>
        <p:nvSpPr>
          <p:cNvPr id="73" name="Shape 21"/>
          <p:cNvSpPr/>
          <p:nvPr/>
        </p:nvSpPr>
        <p:spPr>
          <a:xfrm>
            <a:off x="7141320" y="4215240"/>
            <a:ext cx="4546800" cy="1220400"/>
          </a:xfrm>
          <a:prstGeom prst="roundRect">
            <a:avLst>
              <a:gd name="adj" fmla="val 2622"/>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Shape 22"/>
          <p:cNvSpPr/>
          <p:nvPr/>
        </p:nvSpPr>
        <p:spPr>
          <a:xfrm>
            <a:off x="7141320" y="4215240"/>
            <a:ext cx="54360" cy="12204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 name="Text 23"/>
          <p:cNvSpPr/>
          <p:nvPr/>
        </p:nvSpPr>
        <p:spPr>
          <a:xfrm>
            <a:off x="7369920" y="4215240"/>
            <a:ext cx="1279800" cy="1220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Output</a:t>
            </a:r>
            <a:endParaRPr lang="en-US" sz="1500" b="0" u="none" strike="noStrike">
              <a:solidFill>
                <a:srgbClr val="000000"/>
              </a:solidFill>
              <a:effectLst/>
              <a:uFillTx/>
              <a:latin typeface="Arial"/>
            </a:endParaRPr>
          </a:p>
        </p:txBody>
      </p:sp>
      <p:sp>
        <p:nvSpPr>
          <p:cNvPr id="76" name="Text 24"/>
          <p:cNvSpPr/>
          <p:nvPr/>
        </p:nvSpPr>
        <p:spPr>
          <a:xfrm>
            <a:off x="8741520" y="4215240"/>
            <a:ext cx="2718000" cy="1220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one signal per locus</a:t>
            </a:r>
            <a:endParaRPr lang="en-US" sz="1500" b="0" u="none" strike="noStrike">
              <a:solidFill>
                <a:srgbClr val="000000"/>
              </a:solidFill>
              <a:effectLst/>
              <a:uFillTx/>
              <a:latin typeface="Arial"/>
            </a:endParaRPr>
          </a:p>
        </p:txBody>
      </p:sp>
      <p:sp>
        <p:nvSpPr>
          <p:cNvPr id="77" name="PlaceHolder 1"/>
          <p:cNvSpPr>
            <a:spLocks noGrp="1"/>
          </p:cNvSpPr>
          <p:nvPr>
            <p:ph type="sldNum" idx="6"/>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5A960505-3858-49AC-8CD7-A093E031BB5E}" type="slidenum">
              <a:rPr lang="en-US" sz="1400" b="0" u="none" strike="noStrike">
                <a:solidFill>
                  <a:srgbClr val="162B43"/>
                </a:solidFill>
                <a:effectLst/>
                <a:uFillTx/>
                <a:latin typeface="Arial"/>
                <a:ea typeface="Arial"/>
              </a:rPr>
              <a:t>1</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9"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Simulation design</a:t>
            </a:r>
            <a:endParaRPr lang="en-US" sz="2400" b="0" u="none" strike="noStrike">
              <a:solidFill>
                <a:srgbClr val="000000"/>
              </a:solidFill>
              <a:effectLst/>
              <a:uFillTx/>
              <a:latin typeface="Arial"/>
            </a:endParaRPr>
          </a:p>
        </p:txBody>
      </p:sp>
      <p:sp>
        <p:nvSpPr>
          <p:cNvPr id="80"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Synthetic genotypes with local LD, a quantitative trait, marginal z-scores</a:t>
            </a:r>
            <a:endParaRPr lang="en-US" sz="1400" b="0" u="none" strike="noStrike">
              <a:solidFill>
                <a:srgbClr val="000000"/>
              </a:solidFill>
              <a:effectLst/>
              <a:uFillTx/>
              <a:latin typeface="Arial"/>
            </a:endParaRPr>
          </a:p>
        </p:txBody>
      </p:sp>
      <p:sp>
        <p:nvSpPr>
          <p:cNvPr id="81"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2" name="Shape 4"/>
          <p:cNvSpPr/>
          <p:nvPr/>
        </p:nvSpPr>
        <p:spPr>
          <a:xfrm>
            <a:off x="557640" y="1371600"/>
            <a:ext cx="2494440" cy="1279800"/>
          </a:xfrm>
          <a:prstGeom prst="roundRect">
            <a:avLst>
              <a:gd name="adj" fmla="val 2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Shape 5"/>
          <p:cNvSpPr/>
          <p:nvPr/>
        </p:nvSpPr>
        <p:spPr>
          <a:xfrm>
            <a:off x="557640" y="1371600"/>
            <a:ext cx="54360" cy="1279800"/>
          </a:xfrm>
          <a:prstGeom prst="rect">
            <a:avLst/>
          </a:prstGeom>
          <a:solidFill>
            <a:srgbClr val="162B4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 name="Text 6"/>
          <p:cNvSpPr/>
          <p:nvPr/>
        </p:nvSpPr>
        <p:spPr>
          <a:xfrm>
            <a:off x="78624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162B43"/>
                </a:solidFill>
                <a:effectLst/>
                <a:uFillTx/>
                <a:latin typeface="Arial"/>
                <a:ea typeface="Arial"/>
              </a:rPr>
              <a:t>Genotypes</a:t>
            </a:r>
            <a:endParaRPr lang="en-US" sz="1440" b="0" u="none" strike="noStrike">
              <a:solidFill>
                <a:srgbClr val="000000"/>
              </a:solidFill>
              <a:effectLst/>
              <a:uFillTx/>
              <a:latin typeface="Arial"/>
            </a:endParaRPr>
          </a:p>
        </p:txBody>
      </p:sp>
      <p:sp>
        <p:nvSpPr>
          <p:cNvPr id="85" name="Text 7"/>
          <p:cNvSpPr/>
          <p:nvPr/>
        </p:nvSpPr>
        <p:spPr>
          <a:xfrm>
            <a:off x="786240" y="1920240"/>
            <a:ext cx="2128680" cy="63972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AR(1) latent haplotypes: neighbouring SNPs in LD</a:t>
            </a:r>
            <a:endParaRPr lang="en-US" sz="1400" b="0" u="none" strike="noStrike">
              <a:solidFill>
                <a:srgbClr val="000000"/>
              </a:solidFill>
              <a:effectLst/>
              <a:uFillTx/>
              <a:latin typeface="Arial"/>
            </a:endParaRPr>
          </a:p>
        </p:txBody>
      </p:sp>
      <p:sp>
        <p:nvSpPr>
          <p:cNvPr id="86" name="Shape 8"/>
          <p:cNvSpPr/>
          <p:nvPr/>
        </p:nvSpPr>
        <p:spPr>
          <a:xfrm>
            <a:off x="3125520" y="2011680"/>
            <a:ext cx="237600" cy="360"/>
          </a:xfrm>
          <a:prstGeom prst="line">
            <a:avLst/>
          </a:prstGeom>
          <a:ln w="25400">
            <a:solidFill>
              <a:srgbClr val="5E6B6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7" name="Shape 9"/>
          <p:cNvSpPr/>
          <p:nvPr/>
        </p:nvSpPr>
        <p:spPr>
          <a:xfrm>
            <a:off x="3436560" y="1371600"/>
            <a:ext cx="2494440" cy="1279800"/>
          </a:xfrm>
          <a:prstGeom prst="roundRect">
            <a:avLst>
              <a:gd name="adj" fmla="val 2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Shape 10"/>
          <p:cNvSpPr/>
          <p:nvPr/>
        </p:nvSpPr>
        <p:spPr>
          <a:xfrm>
            <a:off x="3436560" y="1371600"/>
            <a:ext cx="54360" cy="1279800"/>
          </a:xfrm>
          <a:prstGeom prst="rect">
            <a:avLst/>
          </a:prstGeom>
          <a:solidFill>
            <a:srgbClr val="162B4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 name="Text 11"/>
          <p:cNvSpPr/>
          <p:nvPr/>
        </p:nvSpPr>
        <p:spPr>
          <a:xfrm>
            <a:off x="366516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162B43"/>
                </a:solidFill>
                <a:effectLst/>
                <a:uFillTx/>
                <a:latin typeface="Arial"/>
                <a:ea typeface="Arial"/>
              </a:rPr>
              <a:t>Trait</a:t>
            </a:r>
            <a:endParaRPr lang="en-US" sz="1440" b="0" u="none" strike="noStrike">
              <a:solidFill>
                <a:srgbClr val="000000"/>
              </a:solidFill>
              <a:effectLst/>
              <a:uFillTx/>
              <a:latin typeface="Arial"/>
            </a:endParaRPr>
          </a:p>
        </p:txBody>
      </p:sp>
      <p:sp>
        <p:nvSpPr>
          <p:cNvPr id="90" name="Text 12"/>
          <p:cNvSpPr/>
          <p:nvPr/>
        </p:nvSpPr>
        <p:spPr>
          <a:xfrm>
            <a:off x="3665160" y="1920240"/>
            <a:ext cx="2128680" cy="63972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1–2 causal SNPs + noise</a:t>
            </a:r>
            <a:endParaRPr lang="en-US" sz="1400" b="0" u="none" strike="noStrike">
              <a:solidFill>
                <a:srgbClr val="000000"/>
              </a:solidFill>
              <a:effectLst/>
              <a:uFillTx/>
              <a:latin typeface="Arial"/>
            </a:endParaRPr>
          </a:p>
        </p:txBody>
      </p:sp>
      <p:sp>
        <p:nvSpPr>
          <p:cNvPr id="91" name="Shape 13"/>
          <p:cNvSpPr/>
          <p:nvPr/>
        </p:nvSpPr>
        <p:spPr>
          <a:xfrm>
            <a:off x="6004080" y="2011680"/>
            <a:ext cx="237960" cy="360"/>
          </a:xfrm>
          <a:prstGeom prst="line">
            <a:avLst/>
          </a:prstGeom>
          <a:ln w="25400">
            <a:solidFill>
              <a:srgbClr val="5E6B6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2" name="Shape 14"/>
          <p:cNvSpPr/>
          <p:nvPr/>
        </p:nvSpPr>
        <p:spPr>
          <a:xfrm>
            <a:off x="6315480" y="1371600"/>
            <a:ext cx="2494440" cy="1279800"/>
          </a:xfrm>
          <a:prstGeom prst="roundRect">
            <a:avLst>
              <a:gd name="adj" fmla="val 2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Shape 15"/>
          <p:cNvSpPr/>
          <p:nvPr/>
        </p:nvSpPr>
        <p:spPr>
          <a:xfrm>
            <a:off x="6315480" y="1371600"/>
            <a:ext cx="54360" cy="12798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 name="Text 16"/>
          <p:cNvSpPr/>
          <p:nvPr/>
        </p:nvSpPr>
        <p:spPr>
          <a:xfrm>
            <a:off x="654408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315DA8"/>
                </a:solidFill>
                <a:effectLst/>
                <a:uFillTx/>
                <a:latin typeface="Arial"/>
                <a:ea typeface="Arial"/>
              </a:rPr>
              <a:t>z-scores</a:t>
            </a:r>
            <a:endParaRPr lang="en-US" sz="1440" b="0" u="none" strike="noStrike">
              <a:solidFill>
                <a:srgbClr val="000000"/>
              </a:solidFill>
              <a:effectLst/>
              <a:uFillTx/>
              <a:latin typeface="Arial"/>
            </a:endParaRPr>
          </a:p>
        </p:txBody>
      </p:sp>
      <p:sp>
        <p:nvSpPr>
          <p:cNvPr id="95" name="Text 17"/>
          <p:cNvSpPr/>
          <p:nvPr/>
        </p:nvSpPr>
        <p:spPr>
          <a:xfrm>
            <a:off x="6544080" y="1920240"/>
            <a:ext cx="2128680" cy="63972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one marginal test per SNP</a:t>
            </a:r>
            <a:endParaRPr lang="en-US" sz="1400" b="0" u="none" strike="noStrike">
              <a:solidFill>
                <a:srgbClr val="000000"/>
              </a:solidFill>
              <a:effectLst/>
              <a:uFillTx/>
              <a:latin typeface="Arial"/>
            </a:endParaRPr>
          </a:p>
        </p:txBody>
      </p:sp>
      <p:sp>
        <p:nvSpPr>
          <p:cNvPr id="96" name="Shape 18"/>
          <p:cNvSpPr/>
          <p:nvPr/>
        </p:nvSpPr>
        <p:spPr>
          <a:xfrm>
            <a:off x="8883000" y="2011680"/>
            <a:ext cx="237600" cy="360"/>
          </a:xfrm>
          <a:prstGeom prst="line">
            <a:avLst/>
          </a:prstGeom>
          <a:ln w="25400">
            <a:solidFill>
              <a:srgbClr val="5E6B6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7" name="Shape 19"/>
          <p:cNvSpPr/>
          <p:nvPr/>
        </p:nvSpPr>
        <p:spPr>
          <a:xfrm>
            <a:off x="9194040" y="1371600"/>
            <a:ext cx="2494440" cy="1279800"/>
          </a:xfrm>
          <a:prstGeom prst="roundRect">
            <a:avLst>
              <a:gd name="adj" fmla="val 2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Shape 20"/>
          <p:cNvSpPr/>
          <p:nvPr/>
        </p:nvSpPr>
        <p:spPr>
          <a:xfrm>
            <a:off x="9194040" y="1371600"/>
            <a:ext cx="54360" cy="127980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 name="Text 21"/>
          <p:cNvSpPr/>
          <p:nvPr/>
        </p:nvSpPr>
        <p:spPr>
          <a:xfrm>
            <a:off x="9422640" y="1508760"/>
            <a:ext cx="212868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40" b="1" u="none" strike="noStrike">
                <a:solidFill>
                  <a:srgbClr val="167E82"/>
                </a:solidFill>
                <a:effectLst/>
                <a:uFillTx/>
                <a:latin typeface="Arial"/>
                <a:ea typeface="Arial"/>
              </a:rPr>
              <a:t>Fine-mapping</a:t>
            </a:r>
            <a:endParaRPr lang="en-US" sz="1440" b="0" u="none" strike="noStrike">
              <a:solidFill>
                <a:srgbClr val="000000"/>
              </a:solidFill>
              <a:effectLst/>
              <a:uFillTx/>
              <a:latin typeface="Arial"/>
            </a:endParaRPr>
          </a:p>
        </p:txBody>
      </p:sp>
      <p:sp>
        <p:nvSpPr>
          <p:cNvPr id="100" name="Text 22"/>
          <p:cNvSpPr/>
          <p:nvPr/>
        </p:nvSpPr>
        <p:spPr>
          <a:xfrm>
            <a:off x="9422640" y="1920240"/>
            <a:ext cx="2128680" cy="63972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400" b="0" u="none" strike="noStrike">
                <a:solidFill>
                  <a:srgbClr val="40546C"/>
                </a:solidFill>
                <a:effectLst/>
                <a:uFillTx/>
                <a:latin typeface="Arial"/>
                <a:ea typeface="Arial"/>
              </a:rPr>
              <a:t>PIPs, 95% credible set</a:t>
            </a:r>
            <a:endParaRPr lang="en-US" sz="1400" b="0" u="none" strike="noStrike">
              <a:solidFill>
                <a:srgbClr val="000000"/>
              </a:solidFill>
              <a:effectLst/>
              <a:uFillTx/>
              <a:latin typeface="Arial"/>
            </a:endParaRPr>
          </a:p>
        </p:txBody>
      </p:sp>
      <p:sp>
        <p:nvSpPr>
          <p:cNvPr id="101" name="Text 23"/>
          <p:cNvSpPr/>
          <p:nvPr/>
        </p:nvSpPr>
        <p:spPr>
          <a:xfrm>
            <a:off x="786240" y="3017520"/>
            <a:ext cx="226584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200" b="1" u="none" strike="noStrike">
                <a:solidFill>
                  <a:srgbClr val="162B43"/>
                </a:solidFill>
                <a:effectLst/>
                <a:uFillTx/>
                <a:latin typeface="Arial"/>
                <a:ea typeface="Arial"/>
              </a:rPr>
              <a:t>200</a:t>
            </a:r>
            <a:endParaRPr lang="en-US" sz="3200" b="0" u="none" strike="noStrike">
              <a:solidFill>
                <a:srgbClr val="000000"/>
              </a:solidFill>
              <a:effectLst/>
              <a:uFillTx/>
              <a:latin typeface="Arial"/>
            </a:endParaRPr>
          </a:p>
        </p:txBody>
      </p:sp>
      <p:sp>
        <p:nvSpPr>
          <p:cNvPr id="102" name="Text 24"/>
          <p:cNvSpPr/>
          <p:nvPr/>
        </p:nvSpPr>
        <p:spPr>
          <a:xfrm>
            <a:off x="786240" y="3520440"/>
            <a:ext cx="226584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SNPs per locus</a:t>
            </a:r>
            <a:endParaRPr lang="en-US" sz="1500" b="0" u="none" strike="noStrike">
              <a:solidFill>
                <a:srgbClr val="000000"/>
              </a:solidFill>
              <a:effectLst/>
              <a:uFillTx/>
              <a:latin typeface="Arial"/>
            </a:endParaRPr>
          </a:p>
        </p:txBody>
      </p:sp>
      <p:sp>
        <p:nvSpPr>
          <p:cNvPr id="103" name="Text 25"/>
          <p:cNvSpPr/>
          <p:nvPr/>
        </p:nvSpPr>
        <p:spPr>
          <a:xfrm>
            <a:off x="3665160" y="3017520"/>
            <a:ext cx="226584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200" b="1" u="none" strike="noStrike">
                <a:solidFill>
                  <a:srgbClr val="162B43"/>
                </a:solidFill>
                <a:effectLst/>
                <a:uFillTx/>
                <a:latin typeface="Arial"/>
                <a:ea typeface="Arial"/>
              </a:rPr>
              <a:t>5,000</a:t>
            </a:r>
            <a:endParaRPr lang="en-US" sz="3200" b="0" u="none" strike="noStrike">
              <a:solidFill>
                <a:srgbClr val="000000"/>
              </a:solidFill>
              <a:effectLst/>
              <a:uFillTx/>
              <a:latin typeface="Arial"/>
            </a:endParaRPr>
          </a:p>
        </p:txBody>
      </p:sp>
      <p:sp>
        <p:nvSpPr>
          <p:cNvPr id="104" name="Text 26"/>
          <p:cNvSpPr/>
          <p:nvPr/>
        </p:nvSpPr>
        <p:spPr>
          <a:xfrm>
            <a:off x="3665160" y="3520440"/>
            <a:ext cx="226584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study samples</a:t>
            </a:r>
            <a:endParaRPr lang="en-US" sz="1500" b="0" u="none" strike="noStrike">
              <a:solidFill>
                <a:srgbClr val="000000"/>
              </a:solidFill>
              <a:effectLst/>
              <a:uFillTx/>
              <a:latin typeface="Arial"/>
            </a:endParaRPr>
          </a:p>
        </p:txBody>
      </p:sp>
      <p:sp>
        <p:nvSpPr>
          <p:cNvPr id="105" name="Text 27"/>
          <p:cNvSpPr/>
          <p:nvPr/>
        </p:nvSpPr>
        <p:spPr>
          <a:xfrm>
            <a:off x="6544080" y="3017520"/>
            <a:ext cx="226584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200" b="1" u="none" strike="noStrike">
                <a:solidFill>
                  <a:srgbClr val="315DA8"/>
                </a:solidFill>
                <a:effectLst/>
                <a:uFillTx/>
                <a:latin typeface="Arial"/>
                <a:ea typeface="Arial"/>
              </a:rPr>
              <a:t>200</a:t>
            </a:r>
            <a:endParaRPr lang="en-US" sz="3200" b="0" u="none" strike="noStrike">
              <a:solidFill>
                <a:srgbClr val="000000"/>
              </a:solidFill>
              <a:effectLst/>
              <a:uFillTx/>
              <a:latin typeface="Arial"/>
            </a:endParaRPr>
          </a:p>
        </p:txBody>
      </p:sp>
      <p:sp>
        <p:nvSpPr>
          <p:cNvPr id="106" name="Text 28"/>
          <p:cNvSpPr/>
          <p:nvPr/>
        </p:nvSpPr>
        <p:spPr>
          <a:xfrm>
            <a:off x="6544080" y="3520440"/>
            <a:ext cx="226584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loci per setting</a:t>
            </a:r>
            <a:endParaRPr lang="en-US" sz="1500" b="0" u="none" strike="noStrike">
              <a:solidFill>
                <a:srgbClr val="000000"/>
              </a:solidFill>
              <a:effectLst/>
              <a:uFillTx/>
              <a:latin typeface="Arial"/>
            </a:endParaRPr>
          </a:p>
        </p:txBody>
      </p:sp>
      <p:sp>
        <p:nvSpPr>
          <p:cNvPr id="107" name="Text 29"/>
          <p:cNvSpPr/>
          <p:nvPr/>
        </p:nvSpPr>
        <p:spPr>
          <a:xfrm>
            <a:off x="9422640" y="3017520"/>
            <a:ext cx="226584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200" b="1" u="none" strike="noStrike">
                <a:solidFill>
                  <a:srgbClr val="167E82"/>
                </a:solidFill>
                <a:effectLst/>
                <a:uFillTx/>
                <a:latin typeface="Arial"/>
                <a:ea typeface="Arial"/>
              </a:rPr>
              <a:t>0.1</a:t>
            </a:r>
            <a:endParaRPr lang="en-US" sz="3200" b="0" u="none" strike="noStrike">
              <a:solidFill>
                <a:srgbClr val="000000"/>
              </a:solidFill>
              <a:effectLst/>
              <a:uFillTx/>
              <a:latin typeface="Arial"/>
            </a:endParaRPr>
          </a:p>
        </p:txBody>
      </p:sp>
      <p:sp>
        <p:nvSpPr>
          <p:cNvPr id="108" name="Text 30"/>
          <p:cNvSpPr/>
          <p:nvPr/>
        </p:nvSpPr>
        <p:spPr>
          <a:xfrm>
            <a:off x="9422640" y="3520440"/>
            <a:ext cx="226584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prior sd of an effect</a:t>
            </a:r>
            <a:endParaRPr lang="en-US" sz="1500" b="0" u="none" strike="noStrike">
              <a:solidFill>
                <a:srgbClr val="000000"/>
              </a:solidFill>
              <a:effectLst/>
              <a:uFillTx/>
              <a:latin typeface="Arial"/>
            </a:endParaRPr>
          </a:p>
        </p:txBody>
      </p:sp>
      <p:sp>
        <p:nvSpPr>
          <p:cNvPr id="109" name="Shape 31"/>
          <p:cNvSpPr/>
          <p:nvPr/>
        </p:nvSpPr>
        <p:spPr>
          <a:xfrm>
            <a:off x="557640" y="4343400"/>
            <a:ext cx="11130480" cy="1096920"/>
          </a:xfrm>
          <a:prstGeom prst="roundRect">
            <a:avLst>
              <a:gd name="adj" fmla="val 291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 name="Shape 32"/>
          <p:cNvSpPr/>
          <p:nvPr/>
        </p:nvSpPr>
        <p:spPr>
          <a:xfrm>
            <a:off x="557640" y="4343400"/>
            <a:ext cx="54360" cy="109692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1" name="Text 33"/>
          <p:cNvSpPr/>
          <p:nvPr/>
        </p:nvSpPr>
        <p:spPr>
          <a:xfrm>
            <a:off x="786240" y="4480560"/>
            <a:ext cx="1076472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7E82"/>
                </a:solidFill>
                <a:effectLst/>
                <a:uFillTx/>
                <a:latin typeface="Arial"/>
                <a:ea typeface="Arial"/>
              </a:rPr>
              <a:t>Reproducible</a:t>
            </a:r>
            <a:endParaRPr lang="en-US" sz="1600" b="0" u="none" strike="noStrike">
              <a:solidFill>
                <a:srgbClr val="000000"/>
              </a:solidFill>
              <a:effectLst/>
              <a:uFillTx/>
              <a:latin typeface="Arial"/>
            </a:endParaRPr>
          </a:p>
        </p:txBody>
      </p:sp>
      <p:sp>
        <p:nvSpPr>
          <p:cNvPr id="112" name="Text 34"/>
          <p:cNvSpPr/>
          <p:nvPr/>
        </p:nvSpPr>
        <p:spPr>
          <a:xfrm>
            <a:off x="786240" y="4892040"/>
            <a:ext cx="10764720" cy="456840"/>
          </a:xfrm>
          <a:prstGeom prst="rect">
            <a:avLst/>
          </a:prstGeom>
          <a:noFill/>
          <a:ln w="0">
            <a:noFill/>
          </a:ln>
        </p:spPr>
        <p:style>
          <a:lnRef idx="0"/>
          <a:fillRef idx="0"/>
          <a:effectRef idx="0"/>
          <a:fontRef idx="minor"/>
        </p:style>
        <p:txBody>
          <a:bodyPr lIns="0" tIns="0" rIns="0" bIns="0" anchor="t">
            <a:noAutofit/>
          </a:bodyPr>
          <a:p>
            <a:pPr defTabSz="914400">
              <a:lnSpc>
                <a:spcPct val="105000"/>
              </a:lnSpc>
              <a:spcAft>
                <a:spcPts val="601"/>
              </a:spcAft>
              <a:tabLst>
                <a:tab pos="0" algn="l"/>
              </a:tabLst>
            </a:pPr>
            <a:r>
              <a:rPr lang="en-US" sz="1500" b="0" u="none" strike="noStrike">
                <a:solidFill>
                  <a:srgbClr val="40546C"/>
                </a:solidFill>
                <a:effectLst/>
                <a:uFillTx/>
                <a:latin typeface="Arial"/>
                <a:ea typeface="Arial"/>
              </a:rPr>
              <a:t>simulate.py, seed 20261016; every number in this deck is read from its results.json</a:t>
            </a:r>
            <a:endParaRPr lang="en-US" sz="1500" b="0" u="none" strike="noStrike">
              <a:solidFill>
                <a:srgbClr val="000000"/>
              </a:solidFill>
              <a:effectLst/>
              <a:uFillTx/>
              <a:latin typeface="Arial"/>
            </a:endParaRPr>
          </a:p>
        </p:txBody>
      </p:sp>
      <p:sp>
        <p:nvSpPr>
          <p:cNvPr id="113" name="PlaceHolder 1"/>
          <p:cNvSpPr>
            <a:spLocks noGrp="1"/>
          </p:cNvSpPr>
          <p:nvPr>
            <p:ph type="sldNum" idx="7"/>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E0191307-8860-498E-8DC1-F1A8A8DF6068}" type="slidenum">
              <a:rPr lang="en-US" sz="1400" b="0" u="none" strike="noStrike">
                <a:solidFill>
                  <a:srgbClr val="162B43"/>
                </a:solidFill>
                <a:effectLst/>
                <a:uFillTx/>
                <a:latin typeface="Arial"/>
                <a:ea typeface="Arial"/>
              </a:rPr>
              <a:t>1</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5"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The lead SNP is not necessarily the causal one</a:t>
            </a:r>
            <a:endParaRPr lang="en-US" sz="2400" b="0" u="none" strike="noStrike">
              <a:solidFill>
                <a:srgbClr val="000000"/>
              </a:solidFill>
              <a:effectLst/>
              <a:uFillTx/>
              <a:latin typeface="Arial"/>
            </a:endParaRPr>
          </a:p>
        </p:txBody>
      </p:sp>
      <p:sp>
        <p:nvSpPr>
          <p:cNvPr id="116"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One simulated locus: the causal SNP is in the 95% credible set, but not on top</a:t>
            </a:r>
            <a:endParaRPr lang="en-US" sz="1400" b="0" u="none" strike="noStrike">
              <a:solidFill>
                <a:srgbClr val="000000"/>
              </a:solidFill>
              <a:effectLst/>
              <a:uFillTx/>
              <a:latin typeface="Arial"/>
            </a:endParaRPr>
          </a:p>
        </p:txBody>
      </p:sp>
      <p:sp>
        <p:nvSpPr>
          <p:cNvPr id="117"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18" name="Image 0" descr="/private/tmp/claude-501/-Users-chenpo-Library-Mobile-Documents-com-apple-CloudDocs-Note/a93c7993-84ec-4f3a-94fd-a9cdc47f2484/scratchpad/repo/research-slides-skill/examples/finemap-demo/figs/locus.png"/>
          <p:cNvPicPr/>
          <p:nvPr/>
        </p:nvPicPr>
        <p:blipFill>
          <a:blip r:embed="rId1"/>
          <a:stretch/>
        </p:blipFill>
        <p:spPr>
          <a:xfrm>
            <a:off x="557640" y="1298520"/>
            <a:ext cx="5521320" cy="4525920"/>
          </a:xfrm>
          <a:prstGeom prst="rect">
            <a:avLst/>
          </a:prstGeom>
          <a:noFill/>
          <a:ln w="0">
            <a:noFill/>
          </a:ln>
        </p:spPr>
      </p:pic>
      <p:sp>
        <p:nvSpPr>
          <p:cNvPr id="119" name="Text 4"/>
          <p:cNvSpPr/>
          <p:nvPr/>
        </p:nvSpPr>
        <p:spPr>
          <a:xfrm>
            <a:off x="557640" y="5879520"/>
            <a:ext cx="5486040" cy="25560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050" b="0" i="1" u="none" strike="noStrike">
                <a:solidFill>
                  <a:srgbClr val="5E6B6F"/>
                </a:solidFill>
                <a:effectLst/>
                <a:uFillTx/>
                <a:latin typeface="Arial"/>
                <a:ea typeface="Arial"/>
              </a:rPr>
              <a:t>Simulated locus (simulate.py)</a:t>
            </a:r>
            <a:endParaRPr lang="en-US" sz="1050" b="0" u="none" strike="noStrike">
              <a:solidFill>
                <a:srgbClr val="000000"/>
              </a:solidFill>
              <a:effectLst/>
              <a:uFillTx/>
              <a:latin typeface="Arial"/>
            </a:endParaRPr>
          </a:p>
        </p:txBody>
      </p:sp>
      <p:sp>
        <p:nvSpPr>
          <p:cNvPr id="120" name="Shape 5"/>
          <p:cNvSpPr/>
          <p:nvPr/>
        </p:nvSpPr>
        <p:spPr>
          <a:xfrm>
            <a:off x="6867000" y="1371600"/>
            <a:ext cx="4821120" cy="914040"/>
          </a:xfrm>
          <a:prstGeom prst="roundRect">
            <a:avLst>
              <a:gd name="adj" fmla="val 3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1" name="Shape 6"/>
          <p:cNvSpPr/>
          <p:nvPr/>
        </p:nvSpPr>
        <p:spPr>
          <a:xfrm>
            <a:off x="6867000" y="1371600"/>
            <a:ext cx="54360" cy="9140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 name="Text 7"/>
          <p:cNvSpPr/>
          <p:nvPr/>
        </p:nvSpPr>
        <p:spPr>
          <a:xfrm>
            <a:off x="7095600" y="1371600"/>
            <a:ext cx="1691280" cy="9140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Lead SNP</a:t>
            </a:r>
            <a:endParaRPr lang="en-US" sz="1500" b="0" u="none" strike="noStrike">
              <a:solidFill>
                <a:srgbClr val="000000"/>
              </a:solidFill>
              <a:effectLst/>
              <a:uFillTx/>
              <a:latin typeface="Arial"/>
            </a:endParaRPr>
          </a:p>
        </p:txBody>
      </p:sp>
      <p:sp>
        <p:nvSpPr>
          <p:cNvPr id="123" name="Text 8"/>
          <p:cNvSpPr/>
          <p:nvPr/>
        </p:nvSpPr>
        <p:spPr>
          <a:xfrm>
            <a:off x="8878680" y="1371600"/>
            <a:ext cx="2580840" cy="9140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|z| = 6.1, PIP = 0.76</a:t>
            </a:r>
            <a:endParaRPr lang="en-US" sz="1500" b="0" u="none" strike="noStrike">
              <a:solidFill>
                <a:srgbClr val="000000"/>
              </a:solidFill>
              <a:effectLst/>
              <a:uFillTx/>
              <a:latin typeface="Arial"/>
            </a:endParaRPr>
          </a:p>
        </p:txBody>
      </p:sp>
      <p:sp>
        <p:nvSpPr>
          <p:cNvPr id="124" name="Shape 9"/>
          <p:cNvSpPr/>
          <p:nvPr/>
        </p:nvSpPr>
        <p:spPr>
          <a:xfrm>
            <a:off x="6867000" y="2514600"/>
            <a:ext cx="4821120" cy="914040"/>
          </a:xfrm>
          <a:prstGeom prst="roundRect">
            <a:avLst>
              <a:gd name="adj" fmla="val 3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5" name="Shape 10"/>
          <p:cNvSpPr/>
          <p:nvPr/>
        </p:nvSpPr>
        <p:spPr>
          <a:xfrm>
            <a:off x="6867000" y="2514600"/>
            <a:ext cx="54360" cy="9140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6" name="Text 11"/>
          <p:cNvSpPr/>
          <p:nvPr/>
        </p:nvSpPr>
        <p:spPr>
          <a:xfrm>
            <a:off x="7095600" y="2514600"/>
            <a:ext cx="1691280" cy="9140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Causal SNP</a:t>
            </a:r>
            <a:endParaRPr lang="en-US" sz="1500" b="0" u="none" strike="noStrike">
              <a:solidFill>
                <a:srgbClr val="000000"/>
              </a:solidFill>
              <a:effectLst/>
              <a:uFillTx/>
              <a:latin typeface="Arial"/>
            </a:endParaRPr>
          </a:p>
        </p:txBody>
      </p:sp>
      <p:sp>
        <p:nvSpPr>
          <p:cNvPr id="127" name="Text 12"/>
          <p:cNvSpPr/>
          <p:nvPr/>
        </p:nvSpPr>
        <p:spPr>
          <a:xfrm>
            <a:off x="8878680" y="2514600"/>
            <a:ext cx="2580840" cy="9140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|z| = 5.6, PIP = 0.04</a:t>
            </a:r>
            <a:endParaRPr lang="en-US" sz="1500" b="0" u="none" strike="noStrike">
              <a:solidFill>
                <a:srgbClr val="000000"/>
              </a:solidFill>
              <a:effectLst/>
              <a:uFillTx/>
              <a:latin typeface="Arial"/>
            </a:endParaRPr>
          </a:p>
        </p:txBody>
      </p:sp>
      <p:sp>
        <p:nvSpPr>
          <p:cNvPr id="128" name="Shape 13"/>
          <p:cNvSpPr/>
          <p:nvPr/>
        </p:nvSpPr>
        <p:spPr>
          <a:xfrm>
            <a:off x="6867000" y="3657600"/>
            <a:ext cx="4821120" cy="914040"/>
          </a:xfrm>
          <a:prstGeom prst="roundRect">
            <a:avLst>
              <a:gd name="adj" fmla="val 3500"/>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9" name="Shape 14"/>
          <p:cNvSpPr/>
          <p:nvPr/>
        </p:nvSpPr>
        <p:spPr>
          <a:xfrm>
            <a:off x="6867000" y="3657600"/>
            <a:ext cx="54360" cy="9140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0" name="Text 15"/>
          <p:cNvSpPr/>
          <p:nvPr/>
        </p:nvSpPr>
        <p:spPr>
          <a:xfrm>
            <a:off x="7095600" y="3657600"/>
            <a:ext cx="1691280" cy="9140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95% credible set</a:t>
            </a:r>
            <a:endParaRPr lang="en-US" sz="1500" b="0" u="none" strike="noStrike">
              <a:solidFill>
                <a:srgbClr val="000000"/>
              </a:solidFill>
              <a:effectLst/>
              <a:uFillTx/>
              <a:latin typeface="Arial"/>
            </a:endParaRPr>
          </a:p>
        </p:txBody>
      </p:sp>
      <p:sp>
        <p:nvSpPr>
          <p:cNvPr id="131" name="Text 16"/>
          <p:cNvSpPr/>
          <p:nvPr/>
        </p:nvSpPr>
        <p:spPr>
          <a:xfrm>
            <a:off x="8878680" y="3657600"/>
            <a:ext cx="2580840" cy="9140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3 SNPs; causal SNP included</a:t>
            </a:r>
            <a:endParaRPr lang="en-US" sz="1500" b="0" u="none" strike="noStrike">
              <a:solidFill>
                <a:srgbClr val="000000"/>
              </a:solidFill>
              <a:effectLst/>
              <a:uFillTx/>
              <a:latin typeface="Arial"/>
            </a:endParaRPr>
          </a:p>
        </p:txBody>
      </p:sp>
      <p:sp>
        <p:nvSpPr>
          <p:cNvPr id="132" name="Shape 17"/>
          <p:cNvSpPr/>
          <p:nvPr/>
        </p:nvSpPr>
        <p:spPr>
          <a:xfrm>
            <a:off x="6867000" y="4800600"/>
            <a:ext cx="4821120" cy="731160"/>
          </a:xfrm>
          <a:prstGeom prst="roundRect">
            <a:avLst>
              <a:gd name="adj" fmla="val 4375"/>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3" name="Shape 18"/>
          <p:cNvSpPr/>
          <p:nvPr/>
        </p:nvSpPr>
        <p:spPr>
          <a:xfrm>
            <a:off x="6867000" y="4800600"/>
            <a:ext cx="54360" cy="73116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 name="Text 19"/>
          <p:cNvSpPr/>
          <p:nvPr/>
        </p:nvSpPr>
        <p:spPr>
          <a:xfrm>
            <a:off x="7095600" y="4937760"/>
            <a:ext cx="445536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7E82"/>
                </a:solidFill>
                <a:effectLst/>
                <a:uFillTx/>
                <a:latin typeface="Arial"/>
                <a:ea typeface="Arial"/>
              </a:rPr>
              <a:t>Report the set, not the top SNP</a:t>
            </a:r>
            <a:endParaRPr lang="en-US" sz="1600" b="0" u="none" strike="noStrike">
              <a:solidFill>
                <a:srgbClr val="000000"/>
              </a:solidFill>
              <a:effectLst/>
              <a:uFillTx/>
              <a:latin typeface="Arial"/>
            </a:endParaRPr>
          </a:p>
        </p:txBody>
      </p:sp>
      <p:sp>
        <p:nvSpPr>
          <p:cNvPr id="135" name="PlaceHolder 1"/>
          <p:cNvSpPr>
            <a:spLocks noGrp="1"/>
          </p:cNvSpPr>
          <p:nvPr>
            <p:ph type="sldNum" idx="8"/>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D605B574-25FA-4CED-BC0F-9261A65E8A03}" type="slidenum">
              <a:rPr lang="en-US" sz="1400" b="0" u="none" strike="noStrike">
                <a:solidFill>
                  <a:srgbClr val="162B43"/>
                </a:solidFill>
                <a:effectLst/>
                <a:uFillTx/>
                <a:latin typeface="Arial"/>
                <a:ea typeface="Arial"/>
              </a:rPr>
              <a:t>1</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7"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Credible sets keep their coverage; their size depends on effect size</a:t>
            </a:r>
            <a:endParaRPr lang="en-US" sz="2400" b="0" u="none" strike="noStrike">
              <a:solidFill>
                <a:srgbClr val="000000"/>
              </a:solidFill>
              <a:effectLst/>
              <a:uFillTx/>
              <a:latin typeface="Arial"/>
            </a:endParaRPr>
          </a:p>
        </p:txBody>
      </p:sp>
      <p:sp>
        <p:nvSpPr>
          <p:cNvPr id="138"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200 loci per setting, one causal SNP each</a:t>
            </a:r>
            <a:endParaRPr lang="en-US" sz="1400" b="0" u="none" strike="noStrike">
              <a:solidFill>
                <a:srgbClr val="000000"/>
              </a:solidFill>
              <a:effectLst/>
              <a:uFillTx/>
              <a:latin typeface="Arial"/>
            </a:endParaRPr>
          </a:p>
        </p:txBody>
      </p:sp>
      <p:sp>
        <p:nvSpPr>
          <p:cNvPr id="139"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40" name="Shape 4"/>
          <p:cNvSpPr/>
          <p:nvPr/>
        </p:nvSpPr>
        <p:spPr>
          <a:xfrm>
            <a:off x="557640" y="1371600"/>
            <a:ext cx="5394600" cy="2742840"/>
          </a:xfrm>
          <a:prstGeom prst="roundRect">
            <a:avLst>
              <a:gd name="adj" fmla="val 116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Shape 5"/>
          <p:cNvSpPr/>
          <p:nvPr/>
        </p:nvSpPr>
        <p:spPr>
          <a:xfrm>
            <a:off x="557640" y="1371600"/>
            <a:ext cx="54360" cy="27428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2" name="Text 6"/>
          <p:cNvSpPr/>
          <p:nvPr/>
        </p:nvSpPr>
        <p:spPr>
          <a:xfrm>
            <a:off x="786240" y="1508760"/>
            <a:ext cx="502884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2B43"/>
                </a:solidFill>
                <a:effectLst/>
                <a:uFillTx/>
                <a:latin typeface="Arial"/>
                <a:ea typeface="Arial"/>
              </a:rPr>
              <a:t>Median credible-set size (SNPs)</a:t>
            </a:r>
            <a:endParaRPr lang="en-US" sz="1600" b="0" u="none" strike="noStrike">
              <a:solidFill>
                <a:srgbClr val="000000"/>
              </a:solidFill>
              <a:effectLst/>
              <a:uFillTx/>
              <a:latin typeface="Arial"/>
            </a:endParaRPr>
          </a:p>
        </p:txBody>
      </p:sp>
      <p:sp>
        <p:nvSpPr>
          <p:cNvPr id="143" name="Text 7"/>
          <p:cNvSpPr/>
          <p:nvPr/>
        </p:nvSpPr>
        <p:spPr>
          <a:xfrm>
            <a:off x="786240" y="2103120"/>
            <a:ext cx="14626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PVE 0.2%</a:t>
            </a:r>
            <a:endParaRPr lang="en-US" sz="1500" b="0" u="none" strike="noStrike">
              <a:solidFill>
                <a:srgbClr val="000000"/>
              </a:solidFill>
              <a:effectLst/>
              <a:uFillTx/>
              <a:latin typeface="Arial"/>
            </a:endParaRPr>
          </a:p>
        </p:txBody>
      </p:sp>
      <p:sp>
        <p:nvSpPr>
          <p:cNvPr id="144" name="Shape 8"/>
          <p:cNvSpPr/>
          <p:nvPr/>
        </p:nvSpPr>
        <p:spPr>
          <a:xfrm>
            <a:off x="2249280" y="2139840"/>
            <a:ext cx="2834280" cy="237240"/>
          </a:xfrm>
          <a:prstGeom prst="rect">
            <a:avLst/>
          </a:prstGeom>
          <a:solidFill>
            <a:srgbClr val="5E6B6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5" name="Text 9"/>
          <p:cNvSpPr/>
          <p:nvPr/>
        </p:nvSpPr>
        <p:spPr>
          <a:xfrm>
            <a:off x="5175360" y="210312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5E6B6F"/>
                </a:solidFill>
                <a:effectLst/>
                <a:uFillTx/>
                <a:latin typeface="Arial"/>
                <a:ea typeface="Arial"/>
              </a:rPr>
              <a:t>109.5</a:t>
            </a:r>
            <a:endParaRPr lang="en-US" sz="1500" b="0" u="none" strike="noStrike">
              <a:solidFill>
                <a:srgbClr val="000000"/>
              </a:solidFill>
              <a:effectLst/>
              <a:uFillTx/>
              <a:latin typeface="Arial"/>
            </a:endParaRPr>
          </a:p>
        </p:txBody>
      </p:sp>
      <p:sp>
        <p:nvSpPr>
          <p:cNvPr id="146" name="Text 10"/>
          <p:cNvSpPr/>
          <p:nvPr/>
        </p:nvSpPr>
        <p:spPr>
          <a:xfrm>
            <a:off x="786240" y="2651760"/>
            <a:ext cx="14626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PVE 0.5%</a:t>
            </a:r>
            <a:endParaRPr lang="en-US" sz="1500" b="0" u="none" strike="noStrike">
              <a:solidFill>
                <a:srgbClr val="000000"/>
              </a:solidFill>
              <a:effectLst/>
              <a:uFillTx/>
              <a:latin typeface="Arial"/>
            </a:endParaRPr>
          </a:p>
        </p:txBody>
      </p:sp>
      <p:sp>
        <p:nvSpPr>
          <p:cNvPr id="147" name="Shape 11"/>
          <p:cNvSpPr/>
          <p:nvPr/>
        </p:nvSpPr>
        <p:spPr>
          <a:xfrm>
            <a:off x="2249280" y="2688480"/>
            <a:ext cx="103320" cy="237240"/>
          </a:xfrm>
          <a:prstGeom prst="rect">
            <a:avLst/>
          </a:prstGeom>
          <a:solidFill>
            <a:srgbClr val="5E6B6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8" name="Text 12"/>
          <p:cNvSpPr/>
          <p:nvPr/>
        </p:nvSpPr>
        <p:spPr>
          <a:xfrm>
            <a:off x="2444400" y="265176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5E6B6F"/>
                </a:solidFill>
                <a:effectLst/>
                <a:uFillTx/>
                <a:latin typeface="Arial"/>
                <a:ea typeface="Arial"/>
              </a:rPr>
              <a:t>4</a:t>
            </a:r>
            <a:endParaRPr lang="en-US" sz="1500" b="0" u="none" strike="noStrike">
              <a:solidFill>
                <a:srgbClr val="000000"/>
              </a:solidFill>
              <a:effectLst/>
              <a:uFillTx/>
              <a:latin typeface="Arial"/>
            </a:endParaRPr>
          </a:p>
        </p:txBody>
      </p:sp>
      <p:sp>
        <p:nvSpPr>
          <p:cNvPr id="149" name="Text 13"/>
          <p:cNvSpPr/>
          <p:nvPr/>
        </p:nvSpPr>
        <p:spPr>
          <a:xfrm>
            <a:off x="786240" y="3200400"/>
            <a:ext cx="14626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PVE 1%</a:t>
            </a:r>
            <a:endParaRPr lang="en-US" sz="1500" b="0" u="none" strike="noStrike">
              <a:solidFill>
                <a:srgbClr val="000000"/>
              </a:solidFill>
              <a:effectLst/>
              <a:uFillTx/>
              <a:latin typeface="Arial"/>
            </a:endParaRPr>
          </a:p>
        </p:txBody>
      </p:sp>
      <p:sp>
        <p:nvSpPr>
          <p:cNvPr id="150" name="Shape 14"/>
          <p:cNvSpPr/>
          <p:nvPr/>
        </p:nvSpPr>
        <p:spPr>
          <a:xfrm>
            <a:off x="2249280" y="3237120"/>
            <a:ext cx="45360" cy="2372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Text 15"/>
          <p:cNvSpPr/>
          <p:nvPr/>
        </p:nvSpPr>
        <p:spPr>
          <a:xfrm>
            <a:off x="2366640" y="320040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315DA8"/>
                </a:solidFill>
                <a:effectLst/>
                <a:uFillTx/>
                <a:latin typeface="Arial"/>
                <a:ea typeface="Arial"/>
              </a:rPr>
              <a:t>1</a:t>
            </a:r>
            <a:endParaRPr lang="en-US" sz="1500" b="0" u="none" strike="noStrike">
              <a:solidFill>
                <a:srgbClr val="000000"/>
              </a:solidFill>
              <a:effectLst/>
              <a:uFillTx/>
              <a:latin typeface="Arial"/>
            </a:endParaRPr>
          </a:p>
        </p:txBody>
      </p:sp>
      <p:sp>
        <p:nvSpPr>
          <p:cNvPr id="152" name="Shape 16"/>
          <p:cNvSpPr/>
          <p:nvPr/>
        </p:nvSpPr>
        <p:spPr>
          <a:xfrm>
            <a:off x="6291000" y="1371600"/>
            <a:ext cx="5397480" cy="2742840"/>
          </a:xfrm>
          <a:prstGeom prst="roundRect">
            <a:avLst>
              <a:gd name="adj" fmla="val 116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Shape 17"/>
          <p:cNvSpPr/>
          <p:nvPr/>
        </p:nvSpPr>
        <p:spPr>
          <a:xfrm>
            <a:off x="6291000" y="1371600"/>
            <a:ext cx="54360" cy="274284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 name="Text 18"/>
          <p:cNvSpPr/>
          <p:nvPr/>
        </p:nvSpPr>
        <p:spPr>
          <a:xfrm>
            <a:off x="6519600" y="1508760"/>
            <a:ext cx="503172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7E82"/>
                </a:solidFill>
                <a:effectLst/>
                <a:uFillTx/>
                <a:latin typeface="Arial"/>
                <a:ea typeface="Arial"/>
              </a:rPr>
              <a:t>Causal SNP with PIP &gt; 0.5</a:t>
            </a:r>
            <a:endParaRPr lang="en-US" sz="1600" b="0" u="none" strike="noStrike">
              <a:solidFill>
                <a:srgbClr val="000000"/>
              </a:solidFill>
              <a:effectLst/>
              <a:uFillTx/>
              <a:latin typeface="Arial"/>
            </a:endParaRPr>
          </a:p>
        </p:txBody>
      </p:sp>
      <p:sp>
        <p:nvSpPr>
          <p:cNvPr id="155" name="Text 19"/>
          <p:cNvSpPr/>
          <p:nvPr/>
        </p:nvSpPr>
        <p:spPr>
          <a:xfrm>
            <a:off x="6519600" y="2103120"/>
            <a:ext cx="14626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PVE 0.2%</a:t>
            </a:r>
            <a:endParaRPr lang="en-US" sz="1500" b="0" u="none" strike="noStrike">
              <a:solidFill>
                <a:srgbClr val="000000"/>
              </a:solidFill>
              <a:effectLst/>
              <a:uFillTx/>
              <a:latin typeface="Arial"/>
            </a:endParaRPr>
          </a:p>
        </p:txBody>
      </p:sp>
      <p:sp>
        <p:nvSpPr>
          <p:cNvPr id="156" name="Shape 20"/>
          <p:cNvSpPr/>
          <p:nvPr/>
        </p:nvSpPr>
        <p:spPr>
          <a:xfrm>
            <a:off x="7982640" y="2139840"/>
            <a:ext cx="365400" cy="237240"/>
          </a:xfrm>
          <a:prstGeom prst="rect">
            <a:avLst/>
          </a:prstGeom>
          <a:solidFill>
            <a:srgbClr val="5E6B6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7" name="Text 21"/>
          <p:cNvSpPr/>
          <p:nvPr/>
        </p:nvSpPr>
        <p:spPr>
          <a:xfrm>
            <a:off x="8439840" y="210312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5E6B6F"/>
                </a:solidFill>
                <a:effectLst/>
                <a:uFillTx/>
                <a:latin typeface="Arial"/>
                <a:ea typeface="Arial"/>
              </a:rPr>
              <a:t>12.5%</a:t>
            </a:r>
            <a:endParaRPr lang="en-US" sz="1500" b="0" u="none" strike="noStrike">
              <a:solidFill>
                <a:srgbClr val="000000"/>
              </a:solidFill>
              <a:effectLst/>
              <a:uFillTx/>
              <a:latin typeface="Arial"/>
            </a:endParaRPr>
          </a:p>
        </p:txBody>
      </p:sp>
      <p:sp>
        <p:nvSpPr>
          <p:cNvPr id="158" name="Text 22"/>
          <p:cNvSpPr/>
          <p:nvPr/>
        </p:nvSpPr>
        <p:spPr>
          <a:xfrm>
            <a:off x="6519600" y="2651760"/>
            <a:ext cx="14626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PVE 0.5%</a:t>
            </a:r>
            <a:endParaRPr lang="en-US" sz="1500" b="0" u="none" strike="noStrike">
              <a:solidFill>
                <a:srgbClr val="000000"/>
              </a:solidFill>
              <a:effectLst/>
              <a:uFillTx/>
              <a:latin typeface="Arial"/>
            </a:endParaRPr>
          </a:p>
        </p:txBody>
      </p:sp>
      <p:sp>
        <p:nvSpPr>
          <p:cNvPr id="159" name="Shape 23"/>
          <p:cNvSpPr/>
          <p:nvPr/>
        </p:nvSpPr>
        <p:spPr>
          <a:xfrm>
            <a:off x="7982640" y="2688480"/>
            <a:ext cx="1828440" cy="237240"/>
          </a:xfrm>
          <a:prstGeom prst="rect">
            <a:avLst/>
          </a:prstGeom>
          <a:solidFill>
            <a:srgbClr val="5E6B6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0" name="Text 24"/>
          <p:cNvSpPr/>
          <p:nvPr/>
        </p:nvSpPr>
        <p:spPr>
          <a:xfrm>
            <a:off x="9902880" y="265176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5E6B6F"/>
                </a:solidFill>
                <a:effectLst/>
                <a:uFillTx/>
                <a:latin typeface="Arial"/>
                <a:ea typeface="Arial"/>
              </a:rPr>
              <a:t>62.5%</a:t>
            </a:r>
            <a:endParaRPr lang="en-US" sz="1500" b="0" u="none" strike="noStrike">
              <a:solidFill>
                <a:srgbClr val="000000"/>
              </a:solidFill>
              <a:effectLst/>
              <a:uFillTx/>
              <a:latin typeface="Arial"/>
            </a:endParaRPr>
          </a:p>
        </p:txBody>
      </p:sp>
      <p:sp>
        <p:nvSpPr>
          <p:cNvPr id="161" name="Text 25"/>
          <p:cNvSpPr/>
          <p:nvPr/>
        </p:nvSpPr>
        <p:spPr>
          <a:xfrm>
            <a:off x="6519600" y="3200400"/>
            <a:ext cx="14626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PVE 1%</a:t>
            </a:r>
            <a:endParaRPr lang="en-US" sz="1500" b="0" u="none" strike="noStrike">
              <a:solidFill>
                <a:srgbClr val="000000"/>
              </a:solidFill>
              <a:effectLst/>
              <a:uFillTx/>
              <a:latin typeface="Arial"/>
            </a:endParaRPr>
          </a:p>
        </p:txBody>
      </p:sp>
      <p:sp>
        <p:nvSpPr>
          <p:cNvPr id="162" name="Shape 26"/>
          <p:cNvSpPr/>
          <p:nvPr/>
        </p:nvSpPr>
        <p:spPr>
          <a:xfrm>
            <a:off x="7982640" y="3237120"/>
            <a:ext cx="2735640" cy="23724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Text 27"/>
          <p:cNvSpPr/>
          <p:nvPr/>
        </p:nvSpPr>
        <p:spPr>
          <a:xfrm>
            <a:off x="10810080" y="320040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7E82"/>
                </a:solidFill>
                <a:effectLst/>
                <a:uFillTx/>
                <a:latin typeface="Arial"/>
                <a:ea typeface="Arial"/>
              </a:rPr>
              <a:t>93.5%</a:t>
            </a:r>
            <a:endParaRPr lang="en-US" sz="1500" b="0" u="none" strike="noStrike">
              <a:solidFill>
                <a:srgbClr val="000000"/>
              </a:solidFill>
              <a:effectLst/>
              <a:uFillTx/>
              <a:latin typeface="Arial"/>
            </a:endParaRPr>
          </a:p>
        </p:txBody>
      </p:sp>
      <p:sp>
        <p:nvSpPr>
          <p:cNvPr id="164" name="Shape 28"/>
          <p:cNvSpPr/>
          <p:nvPr/>
        </p:nvSpPr>
        <p:spPr>
          <a:xfrm>
            <a:off x="557640" y="4389120"/>
            <a:ext cx="11130480" cy="685440"/>
          </a:xfrm>
          <a:prstGeom prst="roundRect">
            <a:avLst>
              <a:gd name="adj" fmla="val 466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5" name="Shape 29"/>
          <p:cNvSpPr/>
          <p:nvPr/>
        </p:nvSpPr>
        <p:spPr>
          <a:xfrm>
            <a:off x="557640" y="4389120"/>
            <a:ext cx="54360" cy="685440"/>
          </a:xfrm>
          <a:prstGeom prst="rect">
            <a:avLst/>
          </a:prstGeom>
          <a:solidFill>
            <a:srgbClr val="162B4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6" name="Text 30"/>
          <p:cNvSpPr/>
          <p:nvPr/>
        </p:nvSpPr>
        <p:spPr>
          <a:xfrm>
            <a:off x="786240" y="4526280"/>
            <a:ext cx="1076472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2B43"/>
                </a:solidFill>
                <a:effectLst/>
                <a:uFillTx/>
                <a:latin typeface="Arial"/>
                <a:ea typeface="Arial"/>
              </a:rPr>
              <a:t>Coverage of the 95% set: 99% at PVE 0.2% · 99% at PVE 0.5% · 99% at PVE 1%</a:t>
            </a:r>
            <a:endParaRPr lang="en-US" sz="1600" b="0" u="none" strike="noStrike">
              <a:solidFill>
                <a:srgbClr val="000000"/>
              </a:solidFill>
              <a:effectLst/>
              <a:uFillTx/>
              <a:latin typeface="Arial"/>
            </a:endParaRPr>
          </a:p>
        </p:txBody>
      </p:sp>
      <p:sp>
        <p:nvSpPr>
          <p:cNvPr id="167" name="PlaceHolder 1"/>
          <p:cNvSpPr>
            <a:spLocks noGrp="1"/>
          </p:cNvSpPr>
          <p:nvPr>
            <p:ph type="sldNum" idx="9"/>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1F5DB9DA-DBB0-4F23-BE10-972A7A014822}" type="slidenum">
              <a:rPr lang="en-US" sz="1400" b="0" u="none" strike="noStrike">
                <a:solidFill>
                  <a:srgbClr val="162B43"/>
                </a:solidFill>
                <a:effectLst/>
                <a:uFillTx/>
                <a:latin typeface="Arial"/>
                <a:ea typeface="Arial"/>
              </a:rPr>
              <a:t>1</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With two causal SNPs, the model still reports one signal</a:t>
            </a:r>
            <a:endParaRPr lang="en-US" sz="2400" b="0" u="none" strike="noStrike">
              <a:solidFill>
                <a:srgbClr val="000000"/>
              </a:solidFill>
              <a:effectLst/>
              <a:uFillTx/>
              <a:latin typeface="Arial"/>
            </a:endParaRPr>
          </a:p>
        </p:txBody>
      </p:sp>
      <p:sp>
        <p:nvSpPr>
          <p:cNvPr id="170"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200 loci, two causal SNPs each (PVE 0.5% each)</a:t>
            </a:r>
            <a:endParaRPr lang="en-US" sz="1400" b="0" u="none" strike="noStrike">
              <a:solidFill>
                <a:srgbClr val="000000"/>
              </a:solidFill>
              <a:effectLst/>
              <a:uFillTx/>
              <a:latin typeface="Arial"/>
            </a:endParaRPr>
          </a:p>
        </p:txBody>
      </p:sp>
      <p:sp>
        <p:nvSpPr>
          <p:cNvPr id="171"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2" name="Text 4"/>
          <p:cNvSpPr/>
          <p:nvPr/>
        </p:nvSpPr>
        <p:spPr>
          <a:xfrm>
            <a:off x="786240" y="1463040"/>
            <a:ext cx="329148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600" b="1" u="none" strike="noStrike">
                <a:solidFill>
                  <a:srgbClr val="315DA8"/>
                </a:solidFill>
                <a:effectLst/>
                <a:uFillTx/>
                <a:latin typeface="Arial"/>
                <a:ea typeface="Arial"/>
              </a:rPr>
              <a:t>1</a:t>
            </a:r>
            <a:endParaRPr lang="en-US" sz="3600" b="0" u="none" strike="noStrike">
              <a:solidFill>
                <a:srgbClr val="000000"/>
              </a:solidFill>
              <a:effectLst/>
              <a:uFillTx/>
              <a:latin typeface="Arial"/>
            </a:endParaRPr>
          </a:p>
        </p:txBody>
      </p:sp>
      <p:sp>
        <p:nvSpPr>
          <p:cNvPr id="173" name="Text 5"/>
          <p:cNvSpPr/>
          <p:nvPr/>
        </p:nvSpPr>
        <p:spPr>
          <a:xfrm>
            <a:off x="786240" y="1965960"/>
            <a:ext cx="329148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signal reported per locus</a:t>
            </a:r>
            <a:endParaRPr lang="en-US" sz="1500" b="0" u="none" strike="noStrike">
              <a:solidFill>
                <a:srgbClr val="000000"/>
              </a:solidFill>
              <a:effectLst/>
              <a:uFillTx/>
              <a:latin typeface="Arial"/>
            </a:endParaRPr>
          </a:p>
        </p:txBody>
      </p:sp>
      <p:sp>
        <p:nvSpPr>
          <p:cNvPr id="174" name="Text 6"/>
          <p:cNvSpPr/>
          <p:nvPr/>
        </p:nvSpPr>
        <p:spPr>
          <a:xfrm>
            <a:off x="4489560" y="1463040"/>
            <a:ext cx="347436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600" b="1" u="none" strike="noStrike">
                <a:solidFill>
                  <a:srgbClr val="167E82"/>
                </a:solidFill>
                <a:effectLst/>
                <a:uFillTx/>
                <a:latin typeface="Arial"/>
                <a:ea typeface="Arial"/>
              </a:rPr>
              <a:t>97.5%</a:t>
            </a:r>
            <a:endParaRPr lang="en-US" sz="3600" b="0" u="none" strike="noStrike">
              <a:solidFill>
                <a:srgbClr val="000000"/>
              </a:solidFill>
              <a:effectLst/>
              <a:uFillTx/>
              <a:latin typeface="Arial"/>
            </a:endParaRPr>
          </a:p>
        </p:txBody>
      </p:sp>
      <p:sp>
        <p:nvSpPr>
          <p:cNvPr id="175" name="Text 7"/>
          <p:cNvSpPr/>
          <p:nvPr/>
        </p:nvSpPr>
        <p:spPr>
          <a:xfrm>
            <a:off x="4489560" y="1965960"/>
            <a:ext cx="347436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of loci: set holds ≥ 1 causal SNP</a:t>
            </a:r>
            <a:endParaRPr lang="en-US" sz="1500" b="0" u="none" strike="noStrike">
              <a:solidFill>
                <a:srgbClr val="000000"/>
              </a:solidFill>
              <a:effectLst/>
              <a:uFillTx/>
              <a:latin typeface="Arial"/>
            </a:endParaRPr>
          </a:p>
        </p:txBody>
      </p:sp>
      <p:sp>
        <p:nvSpPr>
          <p:cNvPr id="176" name="Text 8"/>
          <p:cNvSpPr/>
          <p:nvPr/>
        </p:nvSpPr>
        <p:spPr>
          <a:xfrm>
            <a:off x="8238600" y="1463040"/>
            <a:ext cx="3291480" cy="456840"/>
          </a:xfrm>
          <a:prstGeom prst="rect">
            <a:avLst/>
          </a:prstGeom>
          <a:noFill/>
          <a:ln w="0">
            <a:noFill/>
          </a:ln>
        </p:spPr>
        <p:style>
          <a:lnRef idx="0"/>
          <a:fillRef idx="0"/>
          <a:effectRef idx="0"/>
          <a:fontRef idx="minor"/>
        </p:style>
        <p:txBody>
          <a:bodyPr lIns="0" tIns="0" rIns="0" bIns="0" anchor="b">
            <a:noAutofit/>
          </a:bodyPr>
          <a:p>
            <a:pPr defTabSz="914400">
              <a:lnSpc>
                <a:spcPct val="105000"/>
              </a:lnSpc>
              <a:tabLst>
                <a:tab pos="0" algn="l"/>
              </a:tabLst>
            </a:pPr>
            <a:r>
              <a:rPr lang="en-US" sz="3600" b="1" u="none" strike="noStrike">
                <a:solidFill>
                  <a:srgbClr val="BC5318"/>
                </a:solidFill>
                <a:effectLst/>
                <a:uFillTx/>
                <a:latin typeface="Arial"/>
                <a:ea typeface="Arial"/>
              </a:rPr>
              <a:t>35.5%</a:t>
            </a:r>
            <a:endParaRPr lang="en-US" sz="3600" b="0" u="none" strike="noStrike">
              <a:solidFill>
                <a:srgbClr val="000000"/>
              </a:solidFill>
              <a:effectLst/>
              <a:uFillTx/>
              <a:latin typeface="Arial"/>
            </a:endParaRPr>
          </a:p>
        </p:txBody>
      </p:sp>
      <p:sp>
        <p:nvSpPr>
          <p:cNvPr id="177" name="Text 9"/>
          <p:cNvSpPr/>
          <p:nvPr/>
        </p:nvSpPr>
        <p:spPr>
          <a:xfrm>
            <a:off x="8238600" y="1965960"/>
            <a:ext cx="3291480" cy="5482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500" b="0" u="none" strike="noStrike">
                <a:solidFill>
                  <a:srgbClr val="40546C"/>
                </a:solidFill>
                <a:effectLst/>
                <a:uFillTx/>
                <a:latin typeface="Arial"/>
                <a:ea typeface="Arial"/>
              </a:rPr>
              <a:t>of loci: both merged in one set</a:t>
            </a:r>
            <a:endParaRPr lang="en-US" sz="1500" b="0" u="none" strike="noStrike">
              <a:solidFill>
                <a:srgbClr val="000000"/>
              </a:solidFill>
              <a:effectLst/>
              <a:uFillTx/>
              <a:latin typeface="Arial"/>
            </a:endParaRPr>
          </a:p>
        </p:txBody>
      </p:sp>
      <p:sp>
        <p:nvSpPr>
          <p:cNvPr id="178" name="Shape 10"/>
          <p:cNvSpPr/>
          <p:nvPr/>
        </p:nvSpPr>
        <p:spPr>
          <a:xfrm>
            <a:off x="557640" y="2834640"/>
            <a:ext cx="11130480" cy="868320"/>
          </a:xfrm>
          <a:prstGeom prst="roundRect">
            <a:avLst>
              <a:gd name="adj" fmla="val 3684"/>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9" name="Shape 11"/>
          <p:cNvSpPr/>
          <p:nvPr/>
        </p:nvSpPr>
        <p:spPr>
          <a:xfrm>
            <a:off x="557640" y="2834640"/>
            <a:ext cx="54360" cy="86832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0" name="Text 12"/>
          <p:cNvSpPr/>
          <p:nvPr/>
        </p:nvSpPr>
        <p:spPr>
          <a:xfrm>
            <a:off x="786240" y="2834640"/>
            <a:ext cx="2331360" cy="868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What goes wrong</a:t>
            </a:r>
            <a:endParaRPr lang="en-US" sz="1500" b="0" u="none" strike="noStrike">
              <a:solidFill>
                <a:srgbClr val="000000"/>
              </a:solidFill>
              <a:effectLst/>
              <a:uFillTx/>
              <a:latin typeface="Arial"/>
            </a:endParaRPr>
          </a:p>
        </p:txBody>
      </p:sp>
      <p:sp>
        <p:nvSpPr>
          <p:cNvPr id="181" name="Text 13"/>
          <p:cNvSpPr/>
          <p:nvPr/>
        </p:nvSpPr>
        <p:spPr>
          <a:xfrm>
            <a:off x="3209400" y="2834640"/>
            <a:ext cx="8250120" cy="868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the second signal is missed or blended into the first set</a:t>
            </a:r>
            <a:endParaRPr lang="en-US" sz="1500" b="0" u="none" strike="noStrike">
              <a:solidFill>
                <a:srgbClr val="000000"/>
              </a:solidFill>
              <a:effectLst/>
              <a:uFillTx/>
              <a:latin typeface="Arial"/>
            </a:endParaRPr>
          </a:p>
        </p:txBody>
      </p:sp>
      <p:sp>
        <p:nvSpPr>
          <p:cNvPr id="182" name="Shape 14"/>
          <p:cNvSpPr/>
          <p:nvPr/>
        </p:nvSpPr>
        <p:spPr>
          <a:xfrm>
            <a:off x="557640" y="3977640"/>
            <a:ext cx="11130480" cy="868320"/>
          </a:xfrm>
          <a:prstGeom prst="roundRect">
            <a:avLst>
              <a:gd name="adj" fmla="val 3684"/>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Shape 15"/>
          <p:cNvSpPr/>
          <p:nvPr/>
        </p:nvSpPr>
        <p:spPr>
          <a:xfrm>
            <a:off x="557640" y="3977640"/>
            <a:ext cx="54360" cy="86832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Text 16"/>
          <p:cNvSpPr/>
          <p:nvPr/>
        </p:nvSpPr>
        <p:spPr>
          <a:xfrm>
            <a:off x="786240" y="3977640"/>
            <a:ext cx="2331360" cy="868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What to use instead</a:t>
            </a:r>
            <a:endParaRPr lang="en-US" sz="1500" b="0" u="none" strike="noStrike">
              <a:solidFill>
                <a:srgbClr val="000000"/>
              </a:solidFill>
              <a:effectLst/>
              <a:uFillTx/>
              <a:latin typeface="Arial"/>
            </a:endParaRPr>
          </a:p>
        </p:txBody>
      </p:sp>
      <p:sp>
        <p:nvSpPr>
          <p:cNvPr id="185" name="Text 17"/>
          <p:cNvSpPr/>
          <p:nvPr/>
        </p:nvSpPr>
        <p:spPr>
          <a:xfrm>
            <a:off x="3209400" y="3977640"/>
            <a:ext cx="8250120" cy="868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a multi-effect model that fits several signals jointly, using the LD matrix</a:t>
            </a:r>
            <a:endParaRPr lang="en-US" sz="1500" b="0" u="none" strike="noStrike">
              <a:solidFill>
                <a:srgbClr val="000000"/>
              </a:solidFill>
              <a:effectLst/>
              <a:uFillTx/>
              <a:latin typeface="Arial"/>
            </a:endParaRPr>
          </a:p>
        </p:txBody>
      </p:sp>
      <p:sp>
        <p:nvSpPr>
          <p:cNvPr id="186" name="PlaceHolder 1"/>
          <p:cNvSpPr>
            <a:spLocks noGrp="1"/>
          </p:cNvSpPr>
          <p:nvPr>
            <p:ph type="sldNum" idx="10"/>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5300A5AE-7E1F-4D3A-A3B8-DBCE5A5BC163}" type="slidenum">
              <a:rPr lang="en-US" sz="1400" b="0" u="none" strike="noStrike">
                <a:solidFill>
                  <a:srgbClr val="162B43"/>
                </a:solidFill>
                <a:effectLst/>
                <a:uFillTx/>
                <a:latin typeface="Arial"/>
                <a:ea typeface="Arial"/>
              </a:rPr>
              <a:t>1</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8"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Check z-scores against the LD reference before using it</a:t>
            </a:r>
            <a:endParaRPr lang="en-US" sz="2400" b="0" u="none" strike="noStrike">
              <a:solidFill>
                <a:srgbClr val="000000"/>
              </a:solidFill>
              <a:effectLst/>
              <a:uFillTx/>
              <a:latin typeface="Arial"/>
            </a:endParaRPr>
          </a:p>
        </p:txBody>
      </p:sp>
      <p:sp>
        <p:nvSpPr>
          <p:cNvPr id="189"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Predict each z from the other SNPs through the LD matrix; a flipped allele stands out</a:t>
            </a:r>
            <a:endParaRPr lang="en-US" sz="1400" b="0" u="none" strike="noStrike">
              <a:solidFill>
                <a:srgbClr val="000000"/>
              </a:solidFill>
              <a:effectLst/>
              <a:uFillTx/>
              <a:latin typeface="Arial"/>
            </a:endParaRPr>
          </a:p>
        </p:txBody>
      </p:sp>
      <p:sp>
        <p:nvSpPr>
          <p:cNvPr id="190"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91" name="Image 0" descr="/private/tmp/claude-501/-Users-chenpo-Library-Mobile-Documents-com-apple-CloudDocs-Note/a93c7993-84ec-4f3a-94fd-a9cdc47f2484/scratchpad/repo/research-slides-skill/examples/finemap-demo/figs/diagnostic.png"/>
          <p:cNvPicPr/>
          <p:nvPr/>
        </p:nvPicPr>
        <p:blipFill>
          <a:blip r:embed="rId1"/>
          <a:stretch/>
        </p:blipFill>
        <p:spPr>
          <a:xfrm>
            <a:off x="557640" y="1298520"/>
            <a:ext cx="4745520" cy="4525920"/>
          </a:xfrm>
          <a:prstGeom prst="rect">
            <a:avLst/>
          </a:prstGeom>
          <a:noFill/>
          <a:ln w="0">
            <a:noFill/>
          </a:ln>
        </p:spPr>
      </p:pic>
      <p:sp>
        <p:nvSpPr>
          <p:cNvPr id="192" name="Text 4"/>
          <p:cNvSpPr/>
          <p:nvPr/>
        </p:nvSpPr>
        <p:spPr>
          <a:xfrm>
            <a:off x="557640" y="5879520"/>
            <a:ext cx="5120280" cy="25560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050" b="0" i="1" u="none" strike="noStrike">
                <a:solidFill>
                  <a:srgbClr val="5E6B6F"/>
                </a:solidFill>
                <a:effectLst/>
                <a:uFillTx/>
                <a:latin typeface="Arial"/>
                <a:ea typeface="Arial"/>
              </a:rPr>
              <a:t>Simulated locus, one allele flipped in the reference</a:t>
            </a:r>
            <a:endParaRPr lang="en-US" sz="1050" b="0" u="none" strike="noStrike">
              <a:solidFill>
                <a:srgbClr val="000000"/>
              </a:solidFill>
              <a:effectLst/>
              <a:uFillTx/>
              <a:latin typeface="Arial"/>
            </a:endParaRPr>
          </a:p>
        </p:txBody>
      </p:sp>
      <p:sp>
        <p:nvSpPr>
          <p:cNvPr id="193" name="Shape 5"/>
          <p:cNvSpPr/>
          <p:nvPr/>
        </p:nvSpPr>
        <p:spPr>
          <a:xfrm>
            <a:off x="5952600" y="1371600"/>
            <a:ext cx="5735520" cy="776880"/>
          </a:xfrm>
          <a:prstGeom prst="roundRect">
            <a:avLst>
              <a:gd name="adj" fmla="val 4118"/>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Shape 6"/>
          <p:cNvSpPr/>
          <p:nvPr/>
        </p:nvSpPr>
        <p:spPr>
          <a:xfrm>
            <a:off x="5952600" y="1371600"/>
            <a:ext cx="54360" cy="7768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5" name="Text 7"/>
          <p:cNvSpPr/>
          <p:nvPr/>
        </p:nvSpPr>
        <p:spPr>
          <a:xfrm>
            <a:off x="6181200" y="1371600"/>
            <a:ext cx="178272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Flipped SNP</a:t>
            </a:r>
            <a:endParaRPr lang="en-US" sz="1500" b="0" u="none" strike="noStrike">
              <a:solidFill>
                <a:srgbClr val="000000"/>
              </a:solidFill>
              <a:effectLst/>
              <a:uFillTx/>
              <a:latin typeface="Arial"/>
            </a:endParaRPr>
          </a:p>
        </p:txBody>
      </p:sp>
      <p:sp>
        <p:nvSpPr>
          <p:cNvPr id="196" name="Text 8"/>
          <p:cNvSpPr/>
          <p:nvPr/>
        </p:nvSpPr>
        <p:spPr>
          <a:xfrm>
            <a:off x="8055720" y="1371600"/>
            <a:ext cx="340380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standardized difference |t| = 12.4</a:t>
            </a:r>
            <a:endParaRPr lang="en-US" sz="1500" b="0" u="none" strike="noStrike">
              <a:solidFill>
                <a:srgbClr val="000000"/>
              </a:solidFill>
              <a:effectLst/>
              <a:uFillTx/>
              <a:latin typeface="Arial"/>
            </a:endParaRPr>
          </a:p>
        </p:txBody>
      </p:sp>
      <p:sp>
        <p:nvSpPr>
          <p:cNvPr id="197" name="Shape 9"/>
          <p:cNvSpPr/>
          <p:nvPr/>
        </p:nvSpPr>
        <p:spPr>
          <a:xfrm>
            <a:off x="5952600" y="2350080"/>
            <a:ext cx="5735520" cy="776880"/>
          </a:xfrm>
          <a:prstGeom prst="roundRect">
            <a:avLst>
              <a:gd name="adj" fmla="val 4118"/>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Shape 10"/>
          <p:cNvSpPr/>
          <p:nvPr/>
        </p:nvSpPr>
        <p:spPr>
          <a:xfrm>
            <a:off x="5952600" y="2350080"/>
            <a:ext cx="54360" cy="7768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9" name="Text 11"/>
          <p:cNvSpPr/>
          <p:nvPr/>
        </p:nvSpPr>
        <p:spPr>
          <a:xfrm>
            <a:off x="6181200" y="2350080"/>
            <a:ext cx="178272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All other SNPs</a:t>
            </a:r>
            <a:endParaRPr lang="en-US" sz="1500" b="0" u="none" strike="noStrike">
              <a:solidFill>
                <a:srgbClr val="000000"/>
              </a:solidFill>
              <a:effectLst/>
              <a:uFillTx/>
              <a:latin typeface="Arial"/>
            </a:endParaRPr>
          </a:p>
        </p:txBody>
      </p:sp>
      <p:sp>
        <p:nvSpPr>
          <p:cNvPr id="200" name="Text 12"/>
          <p:cNvSpPr/>
          <p:nvPr/>
        </p:nvSpPr>
        <p:spPr>
          <a:xfrm>
            <a:off x="8055720" y="2350080"/>
            <a:ext cx="340380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|t| ≤ 3.7</a:t>
            </a:r>
            <a:endParaRPr lang="en-US" sz="1500" b="0" u="none" strike="noStrike">
              <a:solidFill>
                <a:srgbClr val="000000"/>
              </a:solidFill>
              <a:effectLst/>
              <a:uFillTx/>
              <a:latin typeface="Arial"/>
            </a:endParaRPr>
          </a:p>
        </p:txBody>
      </p:sp>
      <p:sp>
        <p:nvSpPr>
          <p:cNvPr id="201" name="Shape 13"/>
          <p:cNvSpPr/>
          <p:nvPr/>
        </p:nvSpPr>
        <p:spPr>
          <a:xfrm>
            <a:off x="5952600" y="3328560"/>
            <a:ext cx="5735520" cy="2111760"/>
          </a:xfrm>
          <a:prstGeom prst="roundRect">
            <a:avLst>
              <a:gd name="adj" fmla="val 1515"/>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2" name="Shape 14"/>
          <p:cNvSpPr/>
          <p:nvPr/>
        </p:nvSpPr>
        <p:spPr>
          <a:xfrm>
            <a:off x="5952600" y="3328560"/>
            <a:ext cx="54360" cy="211176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3" name="Text 15"/>
          <p:cNvSpPr/>
          <p:nvPr/>
        </p:nvSpPr>
        <p:spPr>
          <a:xfrm>
            <a:off x="6181200" y="3465720"/>
            <a:ext cx="5369760" cy="328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1" u="none" strike="noStrike">
                <a:solidFill>
                  <a:srgbClr val="167E82"/>
                </a:solidFill>
                <a:effectLst/>
                <a:uFillTx/>
                <a:latin typeface="Arial"/>
                <a:ea typeface="Arial"/>
              </a:rPr>
              <a:t>Flipped SNP ranked first by |t|</a:t>
            </a:r>
            <a:endParaRPr lang="en-US" sz="1600" b="0" u="none" strike="noStrike">
              <a:solidFill>
                <a:srgbClr val="000000"/>
              </a:solidFill>
              <a:effectLst/>
              <a:uFillTx/>
              <a:latin typeface="Arial"/>
            </a:endParaRPr>
          </a:p>
        </p:txBody>
      </p:sp>
      <p:sp>
        <p:nvSpPr>
          <p:cNvPr id="204" name="Text 16"/>
          <p:cNvSpPr/>
          <p:nvPr/>
        </p:nvSpPr>
        <p:spPr>
          <a:xfrm>
            <a:off x="6181200" y="3877200"/>
            <a:ext cx="23770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reference n = 200</a:t>
            </a:r>
            <a:endParaRPr lang="en-US" sz="1500" b="0" u="none" strike="noStrike">
              <a:solidFill>
                <a:srgbClr val="000000"/>
              </a:solidFill>
              <a:effectLst/>
              <a:uFillTx/>
              <a:latin typeface="Arial"/>
            </a:endParaRPr>
          </a:p>
        </p:txBody>
      </p:sp>
      <p:sp>
        <p:nvSpPr>
          <p:cNvPr id="205" name="Shape 17"/>
          <p:cNvSpPr/>
          <p:nvPr/>
        </p:nvSpPr>
        <p:spPr>
          <a:xfrm>
            <a:off x="8558640" y="3913560"/>
            <a:ext cx="1874160" cy="23724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6" name="Text 18"/>
          <p:cNvSpPr/>
          <p:nvPr/>
        </p:nvSpPr>
        <p:spPr>
          <a:xfrm>
            <a:off x="10524600" y="387720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7E82"/>
                </a:solidFill>
                <a:effectLst/>
                <a:uFillTx/>
                <a:latin typeface="Arial"/>
                <a:ea typeface="Arial"/>
              </a:rPr>
              <a:t>200/200</a:t>
            </a:r>
            <a:endParaRPr lang="en-US" sz="1500" b="0" u="none" strike="noStrike">
              <a:solidFill>
                <a:srgbClr val="000000"/>
              </a:solidFill>
              <a:effectLst/>
              <a:uFillTx/>
              <a:latin typeface="Arial"/>
            </a:endParaRPr>
          </a:p>
        </p:txBody>
      </p:sp>
      <p:sp>
        <p:nvSpPr>
          <p:cNvPr id="207" name="Text 19"/>
          <p:cNvSpPr/>
          <p:nvPr/>
        </p:nvSpPr>
        <p:spPr>
          <a:xfrm>
            <a:off x="6181200" y="4352400"/>
            <a:ext cx="23770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reference n = 1,000</a:t>
            </a:r>
            <a:endParaRPr lang="en-US" sz="1500" b="0" u="none" strike="noStrike">
              <a:solidFill>
                <a:srgbClr val="000000"/>
              </a:solidFill>
              <a:effectLst/>
              <a:uFillTx/>
              <a:latin typeface="Arial"/>
            </a:endParaRPr>
          </a:p>
        </p:txBody>
      </p:sp>
      <p:sp>
        <p:nvSpPr>
          <p:cNvPr id="208" name="Shape 20"/>
          <p:cNvSpPr/>
          <p:nvPr/>
        </p:nvSpPr>
        <p:spPr>
          <a:xfrm>
            <a:off x="8558640" y="4389120"/>
            <a:ext cx="1874160" cy="23724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9" name="Text 21"/>
          <p:cNvSpPr/>
          <p:nvPr/>
        </p:nvSpPr>
        <p:spPr>
          <a:xfrm>
            <a:off x="10524600" y="435240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7E82"/>
                </a:solidFill>
                <a:effectLst/>
                <a:uFillTx/>
                <a:latin typeface="Arial"/>
                <a:ea typeface="Arial"/>
              </a:rPr>
              <a:t>200/200</a:t>
            </a:r>
            <a:endParaRPr lang="en-US" sz="1500" b="0" u="none" strike="noStrike">
              <a:solidFill>
                <a:srgbClr val="000000"/>
              </a:solidFill>
              <a:effectLst/>
              <a:uFillTx/>
              <a:latin typeface="Arial"/>
            </a:endParaRPr>
          </a:p>
        </p:txBody>
      </p:sp>
      <p:sp>
        <p:nvSpPr>
          <p:cNvPr id="210" name="Text 22"/>
          <p:cNvSpPr/>
          <p:nvPr/>
        </p:nvSpPr>
        <p:spPr>
          <a:xfrm>
            <a:off x="6181200" y="4827960"/>
            <a:ext cx="237708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162B43"/>
                </a:solidFill>
                <a:effectLst/>
                <a:uFillTx/>
                <a:latin typeface="Arial"/>
                <a:ea typeface="Arial"/>
              </a:rPr>
              <a:t>reference n = 5,000</a:t>
            </a:r>
            <a:endParaRPr lang="en-US" sz="1500" b="0" u="none" strike="noStrike">
              <a:solidFill>
                <a:srgbClr val="000000"/>
              </a:solidFill>
              <a:effectLst/>
              <a:uFillTx/>
              <a:latin typeface="Arial"/>
            </a:endParaRPr>
          </a:p>
        </p:txBody>
      </p:sp>
      <p:sp>
        <p:nvSpPr>
          <p:cNvPr id="211" name="Shape 23"/>
          <p:cNvSpPr/>
          <p:nvPr/>
        </p:nvSpPr>
        <p:spPr>
          <a:xfrm>
            <a:off x="8558640" y="4864680"/>
            <a:ext cx="1874160" cy="237240"/>
          </a:xfrm>
          <a:prstGeom prst="rect">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Text 24"/>
          <p:cNvSpPr/>
          <p:nvPr/>
        </p:nvSpPr>
        <p:spPr>
          <a:xfrm>
            <a:off x="10524600" y="4827960"/>
            <a:ext cx="1096920" cy="3106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7E82"/>
                </a:solidFill>
                <a:effectLst/>
                <a:uFillTx/>
                <a:latin typeface="Arial"/>
                <a:ea typeface="Arial"/>
              </a:rPr>
              <a:t>200/200</a:t>
            </a:r>
            <a:endParaRPr lang="en-US" sz="1500" b="0" u="none" strike="noStrike">
              <a:solidFill>
                <a:srgbClr val="000000"/>
              </a:solidFill>
              <a:effectLst/>
              <a:uFillTx/>
              <a:latin typeface="Arial"/>
            </a:endParaRPr>
          </a:p>
        </p:txBody>
      </p:sp>
      <p:sp>
        <p:nvSpPr>
          <p:cNvPr id="213" name="PlaceHolder 1"/>
          <p:cNvSpPr>
            <a:spLocks noGrp="1"/>
          </p:cNvSpPr>
          <p:nvPr>
            <p:ph type="sldNum" idx="11"/>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CEEB3B24-A5A4-41F1-86F7-B1FE5E73106A}" type="slidenum">
              <a:rPr lang="en-US" sz="1400" b="0" u="none" strike="noStrike">
                <a:solidFill>
                  <a:srgbClr val="162B43"/>
                </a:solidFill>
                <a:effectLst/>
                <a:uFillTx/>
                <a:latin typeface="Arial"/>
                <a:ea typeface="Arial"/>
              </a:rPr>
              <a:t>&lt;number&gt;</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4"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5"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Limitations</a:t>
            </a:r>
            <a:endParaRPr lang="en-US" sz="2400" b="0" u="none" strike="noStrike">
              <a:solidFill>
                <a:srgbClr val="000000"/>
              </a:solidFill>
              <a:effectLst/>
              <a:uFillTx/>
              <a:latin typeface="Arial"/>
            </a:endParaRPr>
          </a:p>
        </p:txBody>
      </p:sp>
      <p:sp>
        <p:nvSpPr>
          <p:cNvPr id="216"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Of this demo, not of fine-mapping in general</a:t>
            </a:r>
            <a:endParaRPr lang="en-US" sz="1400" b="0" u="none" strike="noStrike">
              <a:solidFill>
                <a:srgbClr val="000000"/>
              </a:solidFill>
              <a:effectLst/>
              <a:uFillTx/>
              <a:latin typeface="Arial"/>
            </a:endParaRPr>
          </a:p>
        </p:txBody>
      </p:sp>
      <p:sp>
        <p:nvSpPr>
          <p:cNvPr id="217"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8" name="Shape 4"/>
          <p:cNvSpPr/>
          <p:nvPr/>
        </p:nvSpPr>
        <p:spPr>
          <a:xfrm>
            <a:off x="557640" y="1371600"/>
            <a:ext cx="11130480" cy="712800"/>
          </a:xfrm>
          <a:prstGeom prst="roundRect">
            <a:avLst>
              <a:gd name="adj" fmla="val 448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9" name="Shape 5"/>
          <p:cNvSpPr/>
          <p:nvPr/>
        </p:nvSpPr>
        <p:spPr>
          <a:xfrm>
            <a:off x="557640" y="1371600"/>
            <a:ext cx="54360" cy="7128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Text 6"/>
          <p:cNvSpPr/>
          <p:nvPr/>
        </p:nvSpPr>
        <p:spPr>
          <a:xfrm>
            <a:off x="786240" y="1371600"/>
            <a:ext cx="242280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One causal SNP</a:t>
            </a:r>
            <a:endParaRPr lang="en-US" sz="1500" b="0" u="none" strike="noStrike">
              <a:solidFill>
                <a:srgbClr val="000000"/>
              </a:solidFill>
              <a:effectLst/>
              <a:uFillTx/>
              <a:latin typeface="Arial"/>
            </a:endParaRPr>
          </a:p>
        </p:txBody>
      </p:sp>
      <p:sp>
        <p:nvSpPr>
          <p:cNvPr id="221" name="Text 7"/>
          <p:cNvSpPr/>
          <p:nvPr/>
        </p:nvSpPr>
        <p:spPr>
          <a:xfrm>
            <a:off x="3300840" y="1371600"/>
            <a:ext cx="815868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the model cannot separate several signals in a locus</a:t>
            </a:r>
            <a:endParaRPr lang="en-US" sz="1500" b="0" u="none" strike="noStrike">
              <a:solidFill>
                <a:srgbClr val="000000"/>
              </a:solidFill>
              <a:effectLst/>
              <a:uFillTx/>
              <a:latin typeface="Arial"/>
            </a:endParaRPr>
          </a:p>
        </p:txBody>
      </p:sp>
      <p:sp>
        <p:nvSpPr>
          <p:cNvPr id="222" name="Shape 8"/>
          <p:cNvSpPr/>
          <p:nvPr/>
        </p:nvSpPr>
        <p:spPr>
          <a:xfrm>
            <a:off x="557640" y="2286000"/>
            <a:ext cx="11130480" cy="712800"/>
          </a:xfrm>
          <a:prstGeom prst="roundRect">
            <a:avLst>
              <a:gd name="adj" fmla="val 448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Shape 9"/>
          <p:cNvSpPr/>
          <p:nvPr/>
        </p:nvSpPr>
        <p:spPr>
          <a:xfrm>
            <a:off x="557640" y="2286000"/>
            <a:ext cx="54360" cy="7128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Text 10"/>
          <p:cNvSpPr/>
          <p:nvPr/>
        </p:nvSpPr>
        <p:spPr>
          <a:xfrm>
            <a:off x="786240" y="2286000"/>
            <a:ext cx="242280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Synthetic genotypes</a:t>
            </a:r>
            <a:endParaRPr lang="en-US" sz="1500" b="0" u="none" strike="noStrike">
              <a:solidFill>
                <a:srgbClr val="000000"/>
              </a:solidFill>
              <a:effectLst/>
              <a:uFillTx/>
              <a:latin typeface="Arial"/>
            </a:endParaRPr>
          </a:p>
        </p:txBody>
      </p:sp>
      <p:sp>
        <p:nvSpPr>
          <p:cNvPr id="225" name="Text 11"/>
          <p:cNvSpPr/>
          <p:nvPr/>
        </p:nvSpPr>
        <p:spPr>
          <a:xfrm>
            <a:off x="3300840" y="2286000"/>
            <a:ext cx="815868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AR(1) haplotypes, not real LD blocks or recombination hot spots</a:t>
            </a:r>
            <a:endParaRPr lang="en-US" sz="1500" b="0" u="none" strike="noStrike">
              <a:solidFill>
                <a:srgbClr val="000000"/>
              </a:solidFill>
              <a:effectLst/>
              <a:uFillTx/>
              <a:latin typeface="Arial"/>
            </a:endParaRPr>
          </a:p>
        </p:txBody>
      </p:sp>
      <p:sp>
        <p:nvSpPr>
          <p:cNvPr id="226" name="Shape 12"/>
          <p:cNvSpPr/>
          <p:nvPr/>
        </p:nvSpPr>
        <p:spPr>
          <a:xfrm>
            <a:off x="557640" y="3200400"/>
            <a:ext cx="11130480" cy="712800"/>
          </a:xfrm>
          <a:prstGeom prst="roundRect">
            <a:avLst>
              <a:gd name="adj" fmla="val 448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Shape 13"/>
          <p:cNvSpPr/>
          <p:nvPr/>
        </p:nvSpPr>
        <p:spPr>
          <a:xfrm>
            <a:off x="557640" y="3200400"/>
            <a:ext cx="54360" cy="7128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8" name="Text 14"/>
          <p:cNvSpPr/>
          <p:nvPr/>
        </p:nvSpPr>
        <p:spPr>
          <a:xfrm>
            <a:off x="786240" y="3200400"/>
            <a:ext cx="242280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Matched reference</a:t>
            </a:r>
            <a:endParaRPr lang="en-US" sz="1500" b="0" u="none" strike="noStrike">
              <a:solidFill>
                <a:srgbClr val="000000"/>
              </a:solidFill>
              <a:effectLst/>
              <a:uFillTx/>
              <a:latin typeface="Arial"/>
            </a:endParaRPr>
          </a:p>
        </p:txBody>
      </p:sp>
      <p:sp>
        <p:nvSpPr>
          <p:cNvPr id="229" name="Text 15"/>
          <p:cNvSpPr/>
          <p:nvPr/>
        </p:nvSpPr>
        <p:spPr>
          <a:xfrm>
            <a:off x="3300840" y="3200400"/>
            <a:ext cx="815868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the LD reference was drawn from the same model as the study</a:t>
            </a:r>
            <a:endParaRPr lang="en-US" sz="1500" b="0" u="none" strike="noStrike">
              <a:solidFill>
                <a:srgbClr val="000000"/>
              </a:solidFill>
              <a:effectLst/>
              <a:uFillTx/>
              <a:latin typeface="Arial"/>
            </a:endParaRPr>
          </a:p>
        </p:txBody>
      </p:sp>
      <p:sp>
        <p:nvSpPr>
          <p:cNvPr id="230" name="Shape 16"/>
          <p:cNvSpPr/>
          <p:nvPr/>
        </p:nvSpPr>
        <p:spPr>
          <a:xfrm>
            <a:off x="557640" y="4114800"/>
            <a:ext cx="11130480" cy="712800"/>
          </a:xfrm>
          <a:prstGeom prst="roundRect">
            <a:avLst>
              <a:gd name="adj" fmla="val 448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1" name="Shape 17"/>
          <p:cNvSpPr/>
          <p:nvPr/>
        </p:nvSpPr>
        <p:spPr>
          <a:xfrm>
            <a:off x="557640" y="4114800"/>
            <a:ext cx="54360" cy="7128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2" name="Text 18"/>
          <p:cNvSpPr/>
          <p:nvPr/>
        </p:nvSpPr>
        <p:spPr>
          <a:xfrm>
            <a:off x="786240" y="4114800"/>
            <a:ext cx="242280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Fixed prior</a:t>
            </a:r>
            <a:endParaRPr lang="en-US" sz="1500" b="0" u="none" strike="noStrike">
              <a:solidFill>
                <a:srgbClr val="000000"/>
              </a:solidFill>
              <a:effectLst/>
              <a:uFillTx/>
              <a:latin typeface="Arial"/>
            </a:endParaRPr>
          </a:p>
        </p:txBody>
      </p:sp>
      <p:sp>
        <p:nvSpPr>
          <p:cNvPr id="233" name="Text 19"/>
          <p:cNvSpPr/>
          <p:nvPr/>
        </p:nvSpPr>
        <p:spPr>
          <a:xfrm>
            <a:off x="3300840" y="4114800"/>
            <a:ext cx="815868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one prior sd (0.1) for every effect; no functional annotation</a:t>
            </a:r>
            <a:endParaRPr lang="en-US" sz="1500" b="0" u="none" strike="noStrike">
              <a:solidFill>
                <a:srgbClr val="000000"/>
              </a:solidFill>
              <a:effectLst/>
              <a:uFillTx/>
              <a:latin typeface="Arial"/>
            </a:endParaRPr>
          </a:p>
        </p:txBody>
      </p:sp>
      <p:sp>
        <p:nvSpPr>
          <p:cNvPr id="234" name="Shape 20"/>
          <p:cNvSpPr/>
          <p:nvPr/>
        </p:nvSpPr>
        <p:spPr>
          <a:xfrm>
            <a:off x="557640" y="5029200"/>
            <a:ext cx="11130480" cy="712800"/>
          </a:xfrm>
          <a:prstGeom prst="roundRect">
            <a:avLst>
              <a:gd name="adj" fmla="val 4487"/>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5" name="Shape 21"/>
          <p:cNvSpPr/>
          <p:nvPr/>
        </p:nvSpPr>
        <p:spPr>
          <a:xfrm>
            <a:off x="557640" y="5029200"/>
            <a:ext cx="54360" cy="71280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6" name="Text 22"/>
          <p:cNvSpPr/>
          <p:nvPr/>
        </p:nvSpPr>
        <p:spPr>
          <a:xfrm>
            <a:off x="786240" y="5029200"/>
            <a:ext cx="242280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Quantitative trait</a:t>
            </a:r>
            <a:endParaRPr lang="en-US" sz="1500" b="0" u="none" strike="noStrike">
              <a:solidFill>
                <a:srgbClr val="000000"/>
              </a:solidFill>
              <a:effectLst/>
              <a:uFillTx/>
              <a:latin typeface="Arial"/>
            </a:endParaRPr>
          </a:p>
        </p:txBody>
      </p:sp>
      <p:sp>
        <p:nvSpPr>
          <p:cNvPr id="237" name="Text 23"/>
          <p:cNvSpPr/>
          <p:nvPr/>
        </p:nvSpPr>
        <p:spPr>
          <a:xfrm>
            <a:off x="3300840" y="5029200"/>
            <a:ext cx="8158680" cy="712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marginal linear-regression z-scores only</a:t>
            </a:r>
            <a:endParaRPr lang="en-US" sz="1500" b="0" u="none" strike="noStrike">
              <a:solidFill>
                <a:srgbClr val="000000"/>
              </a:solidFill>
              <a:effectLst/>
              <a:uFillTx/>
              <a:latin typeface="Arial"/>
            </a:endParaRPr>
          </a:p>
        </p:txBody>
      </p:sp>
      <p:sp>
        <p:nvSpPr>
          <p:cNvPr id="238" name="PlaceHolder 1"/>
          <p:cNvSpPr>
            <a:spLocks noGrp="1"/>
          </p:cNvSpPr>
          <p:nvPr>
            <p:ph type="sldNum" idx="12"/>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D2EF742C-67EA-400B-99C1-ABAF8C90CF05}" type="slidenum">
              <a:rPr lang="en-US" sz="1400" b="0" u="none" strike="noStrike">
                <a:solidFill>
                  <a:srgbClr val="162B43"/>
                </a:solidFill>
                <a:effectLst/>
                <a:uFillTx/>
                <a:latin typeface="Arial"/>
                <a:ea typeface="Arial"/>
              </a:rPr>
              <a:t>&lt;number&gt;</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B43"/>
        </a:solidFill>
      </p:bgPr>
    </p:bg>
    <p:spTree>
      <p:nvGrpSpPr>
        <p:cNvPr id="1" name=""/>
        <p:cNvGrpSpPr/>
        <p:nvPr/>
      </p:nvGrpSpPr>
      <p:grpSpPr>
        <a:xfrm>
          <a:off x="0" y="0"/>
          <a:ext cx="0" cy="0"/>
          <a:chOff x="0" y="0"/>
          <a:chExt cx="0" cy="0"/>
        </a:xfrm>
      </p:grpSpPr>
      <p:sp>
        <p:nvSpPr>
          <p:cNvPr id="239"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0"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FFFFFF"/>
                </a:solidFill>
                <a:effectLst/>
                <a:uFillTx/>
                <a:latin typeface="Arial"/>
                <a:ea typeface="Arial"/>
              </a:rPr>
              <a:t>Three things to remember</a:t>
            </a:r>
            <a:endParaRPr lang="en-US" sz="2400" b="0" u="none" strike="noStrike">
              <a:solidFill>
                <a:srgbClr val="FFFFFF"/>
              </a:solidFill>
              <a:effectLst/>
              <a:uFillTx/>
              <a:latin typeface="Arial"/>
            </a:endParaRPr>
          </a:p>
        </p:txBody>
      </p:sp>
      <p:sp>
        <p:nvSpPr>
          <p:cNvPr id="241"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7FD1C7"/>
                </a:solidFill>
                <a:effectLst/>
                <a:uFillTx/>
                <a:latin typeface="Arial"/>
                <a:ea typeface="Arial"/>
              </a:rPr>
              <a:t>Take-home</a:t>
            </a:r>
            <a:endParaRPr lang="en-US" sz="1400" b="0" u="none" strike="noStrike">
              <a:solidFill>
                <a:srgbClr val="FFFFFF"/>
              </a:solidFill>
              <a:effectLst/>
              <a:uFillTx/>
              <a:latin typeface="Arial"/>
            </a:endParaRPr>
          </a:p>
        </p:txBody>
      </p:sp>
      <p:sp>
        <p:nvSpPr>
          <p:cNvPr id="242" name="Shape 3"/>
          <p:cNvSpPr/>
          <p:nvPr/>
        </p:nvSpPr>
        <p:spPr>
          <a:xfrm>
            <a:off x="557640" y="1042200"/>
            <a:ext cx="11130840" cy="360"/>
          </a:xfrm>
          <a:prstGeom prst="line">
            <a:avLst/>
          </a:prstGeom>
          <a:ln w="12700">
            <a:solidFill>
              <a:srgbClr val="3F5A7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43" name="Shape 4"/>
          <p:cNvSpPr/>
          <p:nvPr/>
        </p:nvSpPr>
        <p:spPr>
          <a:xfrm>
            <a:off x="557640" y="1618560"/>
            <a:ext cx="383760" cy="383760"/>
          </a:xfrm>
          <a:prstGeom prst="roundRect">
            <a:avLst>
              <a:gd name="adj" fmla="val 14286"/>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4" name="Text 5"/>
          <p:cNvSpPr/>
          <p:nvPr/>
        </p:nvSpPr>
        <p:spPr>
          <a:xfrm>
            <a:off x="557640" y="16185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5000"/>
              </a:lnSpc>
              <a:tabLst>
                <a:tab pos="0" algn="l"/>
              </a:tabLst>
            </a:pPr>
            <a:r>
              <a:rPr lang="en-US" sz="1800" b="1" u="none" strike="noStrike">
                <a:solidFill>
                  <a:srgbClr val="FFFFFF"/>
                </a:solidFill>
                <a:effectLst/>
                <a:uFillTx/>
                <a:latin typeface="Arial"/>
                <a:ea typeface="Arial"/>
              </a:rPr>
              <a:t>1</a:t>
            </a:r>
            <a:endParaRPr lang="en-US" sz="1800" b="0" u="none" strike="noStrike">
              <a:solidFill>
                <a:srgbClr val="FFFFFF"/>
              </a:solidFill>
              <a:effectLst/>
              <a:uFillTx/>
              <a:latin typeface="Arial"/>
            </a:endParaRPr>
          </a:p>
        </p:txBody>
      </p:sp>
      <p:sp>
        <p:nvSpPr>
          <p:cNvPr id="245" name="Text 6"/>
          <p:cNvSpPr/>
          <p:nvPr/>
        </p:nvSpPr>
        <p:spPr>
          <a:xfrm>
            <a:off x="1197720" y="1600200"/>
            <a:ext cx="10490400" cy="420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160" b="1" u="none" strike="noStrike">
                <a:solidFill>
                  <a:srgbClr val="FFFFFF"/>
                </a:solidFill>
                <a:effectLst/>
                <a:uFillTx/>
                <a:latin typeface="Arial"/>
                <a:ea typeface="Arial"/>
              </a:rPr>
              <a:t>Report credible sets, not lead SNPs</a:t>
            </a:r>
            <a:endParaRPr lang="en-US" sz="2160" b="0" u="none" strike="noStrike">
              <a:solidFill>
                <a:srgbClr val="FFFFFF"/>
              </a:solidFill>
              <a:effectLst/>
              <a:uFillTx/>
              <a:latin typeface="Arial"/>
            </a:endParaRPr>
          </a:p>
        </p:txBody>
      </p:sp>
      <p:sp>
        <p:nvSpPr>
          <p:cNvPr id="246" name="Text 7"/>
          <p:cNvSpPr/>
          <p:nvPr/>
        </p:nvSpPr>
        <p:spPr>
          <a:xfrm>
            <a:off x="1197720" y="2075760"/>
            <a:ext cx="10490400" cy="365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0" u="none" strike="noStrike">
                <a:solidFill>
                  <a:srgbClr val="C9D6E6"/>
                </a:solidFill>
                <a:effectLst/>
                <a:uFillTx/>
                <a:latin typeface="Arial"/>
                <a:ea typeface="Arial"/>
              </a:rPr>
              <a:t>The causal SNP can sit inside the set without being on top</a:t>
            </a:r>
            <a:endParaRPr lang="en-US" sz="1600" b="0" u="none" strike="noStrike">
              <a:solidFill>
                <a:srgbClr val="FFFFFF"/>
              </a:solidFill>
              <a:effectLst/>
              <a:uFillTx/>
              <a:latin typeface="Arial"/>
            </a:endParaRPr>
          </a:p>
        </p:txBody>
      </p:sp>
      <p:sp>
        <p:nvSpPr>
          <p:cNvPr id="247" name="Shape 8"/>
          <p:cNvSpPr/>
          <p:nvPr/>
        </p:nvSpPr>
        <p:spPr>
          <a:xfrm>
            <a:off x="557640" y="2944440"/>
            <a:ext cx="383760" cy="383760"/>
          </a:xfrm>
          <a:prstGeom prst="roundRect">
            <a:avLst>
              <a:gd name="adj" fmla="val 14286"/>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8" name="Text 9"/>
          <p:cNvSpPr/>
          <p:nvPr/>
        </p:nvSpPr>
        <p:spPr>
          <a:xfrm>
            <a:off x="557640" y="29444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5000"/>
              </a:lnSpc>
              <a:tabLst>
                <a:tab pos="0" algn="l"/>
              </a:tabLst>
            </a:pPr>
            <a:r>
              <a:rPr lang="en-US" sz="1800" b="1" u="none" strike="noStrike">
                <a:solidFill>
                  <a:srgbClr val="FFFFFF"/>
                </a:solidFill>
                <a:effectLst/>
                <a:uFillTx/>
                <a:latin typeface="Arial"/>
                <a:ea typeface="Arial"/>
              </a:rPr>
              <a:t>2</a:t>
            </a:r>
            <a:endParaRPr lang="en-US" sz="1800" b="0" u="none" strike="noStrike">
              <a:solidFill>
                <a:srgbClr val="FFFFFF"/>
              </a:solidFill>
              <a:effectLst/>
              <a:uFillTx/>
              <a:latin typeface="Arial"/>
            </a:endParaRPr>
          </a:p>
        </p:txBody>
      </p:sp>
      <p:sp>
        <p:nvSpPr>
          <p:cNvPr id="249" name="Text 10"/>
          <p:cNvSpPr/>
          <p:nvPr/>
        </p:nvSpPr>
        <p:spPr>
          <a:xfrm>
            <a:off x="1197720" y="2926080"/>
            <a:ext cx="10490400" cy="420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160" b="1" u="none" strike="noStrike">
                <a:solidFill>
                  <a:srgbClr val="FFFFFF"/>
                </a:solidFill>
                <a:effectLst/>
                <a:uFillTx/>
                <a:latin typeface="Arial"/>
                <a:ea typeface="Arial"/>
              </a:rPr>
              <a:t>Set size tracks signal strength</a:t>
            </a:r>
            <a:endParaRPr lang="en-US" sz="2160" b="0" u="none" strike="noStrike">
              <a:solidFill>
                <a:srgbClr val="FFFFFF"/>
              </a:solidFill>
              <a:effectLst/>
              <a:uFillTx/>
              <a:latin typeface="Arial"/>
            </a:endParaRPr>
          </a:p>
        </p:txBody>
      </p:sp>
      <p:sp>
        <p:nvSpPr>
          <p:cNvPr id="250" name="Text 11"/>
          <p:cNvSpPr/>
          <p:nvPr/>
        </p:nvSpPr>
        <p:spPr>
          <a:xfrm>
            <a:off x="1197720" y="3401640"/>
            <a:ext cx="10490400" cy="365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0" u="none" strike="noStrike">
                <a:solidFill>
                  <a:srgbClr val="C9D6E6"/>
                </a:solidFill>
                <a:effectLst/>
                <a:uFillTx/>
                <a:latin typeface="Arial"/>
                <a:ea typeface="Arial"/>
              </a:rPr>
              <a:t>Coverage held across settings; resolution did not</a:t>
            </a:r>
            <a:endParaRPr lang="en-US" sz="1600" b="0" u="none" strike="noStrike">
              <a:solidFill>
                <a:srgbClr val="FFFFFF"/>
              </a:solidFill>
              <a:effectLst/>
              <a:uFillTx/>
              <a:latin typeface="Arial"/>
            </a:endParaRPr>
          </a:p>
        </p:txBody>
      </p:sp>
      <p:sp>
        <p:nvSpPr>
          <p:cNvPr id="251" name="Shape 12"/>
          <p:cNvSpPr/>
          <p:nvPr/>
        </p:nvSpPr>
        <p:spPr>
          <a:xfrm>
            <a:off x="557640" y="4270320"/>
            <a:ext cx="383760" cy="383760"/>
          </a:xfrm>
          <a:prstGeom prst="roundRect">
            <a:avLst>
              <a:gd name="adj" fmla="val 14286"/>
            </a:avLst>
          </a:prstGeom>
          <a:solidFill>
            <a:srgbClr val="167E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2" name="Text 13"/>
          <p:cNvSpPr/>
          <p:nvPr/>
        </p:nvSpPr>
        <p:spPr>
          <a:xfrm>
            <a:off x="557640" y="42703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5000"/>
              </a:lnSpc>
              <a:tabLst>
                <a:tab pos="0" algn="l"/>
              </a:tabLst>
            </a:pPr>
            <a:r>
              <a:rPr lang="en-US" sz="1800" b="1" u="none" strike="noStrike">
                <a:solidFill>
                  <a:srgbClr val="FFFFFF"/>
                </a:solidFill>
                <a:effectLst/>
                <a:uFillTx/>
                <a:latin typeface="Arial"/>
                <a:ea typeface="Arial"/>
              </a:rPr>
              <a:t>3</a:t>
            </a:r>
            <a:endParaRPr lang="en-US" sz="1800" b="0" u="none" strike="noStrike">
              <a:solidFill>
                <a:srgbClr val="FFFFFF"/>
              </a:solidFill>
              <a:effectLst/>
              <a:uFillTx/>
              <a:latin typeface="Arial"/>
            </a:endParaRPr>
          </a:p>
        </p:txBody>
      </p:sp>
      <p:sp>
        <p:nvSpPr>
          <p:cNvPr id="253" name="Text 14"/>
          <p:cNvSpPr/>
          <p:nvPr/>
        </p:nvSpPr>
        <p:spPr>
          <a:xfrm>
            <a:off x="1197720" y="4251960"/>
            <a:ext cx="10490400" cy="420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160" b="1" u="none" strike="noStrike">
                <a:solidFill>
                  <a:srgbClr val="FFFFFF"/>
                </a:solidFill>
                <a:effectLst/>
                <a:uFillTx/>
                <a:latin typeface="Arial"/>
                <a:ea typeface="Arial"/>
              </a:rPr>
              <a:t>Check z-scores against LD first</a:t>
            </a:r>
            <a:endParaRPr lang="en-US" sz="2160" b="0" u="none" strike="noStrike">
              <a:solidFill>
                <a:srgbClr val="FFFFFF"/>
              </a:solidFill>
              <a:effectLst/>
              <a:uFillTx/>
              <a:latin typeface="Arial"/>
            </a:endParaRPr>
          </a:p>
        </p:txBody>
      </p:sp>
      <p:sp>
        <p:nvSpPr>
          <p:cNvPr id="254" name="Text 15"/>
          <p:cNvSpPr/>
          <p:nvPr/>
        </p:nvSpPr>
        <p:spPr>
          <a:xfrm>
            <a:off x="1197720" y="4727520"/>
            <a:ext cx="10490400" cy="365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600" b="0" u="none" strike="noStrike">
                <a:solidFill>
                  <a:srgbClr val="C9D6E6"/>
                </a:solidFill>
                <a:effectLst/>
                <a:uFillTx/>
                <a:latin typeface="Arial"/>
                <a:ea typeface="Arial"/>
              </a:rPr>
              <a:t>A flipped allele is easy to see before it misleads a multi-signal model</a:t>
            </a:r>
            <a:endParaRPr lang="en-US" sz="1600" b="0" u="none" strike="noStrike">
              <a:solidFill>
                <a:srgbClr val="FFFFFF"/>
              </a:solidFill>
              <a:effectLst/>
              <a:uFillTx/>
              <a:latin typeface="Arial"/>
            </a:endParaRPr>
          </a:p>
        </p:txBody>
      </p:sp>
      <p:sp>
        <p:nvSpPr>
          <p:cNvPr id="255" name="PlaceHolder 1"/>
          <p:cNvSpPr>
            <a:spLocks noGrp="1"/>
          </p:cNvSpPr>
          <p:nvPr>
            <p:ph type="sldNum" idx="13"/>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7FD1C7"/>
                </a:solidFill>
                <a:effectLst/>
                <a:uFillTx/>
                <a:latin typeface="Arial"/>
                <a:ea typeface="Arial"/>
              </a:defRPr>
            </a:lvl1pPr>
          </a:lstStyle>
          <a:p>
            <a:pPr indent="0" algn="r" defTabSz="914400">
              <a:lnSpc>
                <a:spcPct val="100000"/>
              </a:lnSpc>
              <a:buNone/>
            </a:pPr>
            <a:fld id="{8740EFB7-6374-40FC-8E16-080849BBCE59}" type="slidenum">
              <a:rPr lang="en-US" sz="1400" b="0" u="none" strike="noStrike">
                <a:solidFill>
                  <a:srgbClr val="7FD1C7"/>
                </a:solidFill>
                <a:effectLst/>
                <a:uFillTx/>
                <a:latin typeface="Arial"/>
                <a:ea typeface="Arial"/>
              </a:rPr>
              <a:t>&lt;number&gt;</a:t>
            </a:fld>
            <a:endParaRPr lang="en-US" sz="14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256"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(Supp.) Simulation settings</a:t>
            </a:r>
            <a:endParaRPr lang="en-US" sz="2400" b="0" u="none" strike="noStrike">
              <a:solidFill>
                <a:srgbClr val="000000"/>
              </a:solidFill>
              <a:effectLst/>
              <a:uFillTx/>
              <a:latin typeface="Arial"/>
            </a:endParaRPr>
          </a:p>
        </p:txBody>
      </p:sp>
      <p:sp>
        <p:nvSpPr>
          <p:cNvPr id="258"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As recorded in results.json</a:t>
            </a:r>
            <a:endParaRPr lang="en-US" sz="1400" b="0" u="none" strike="noStrike">
              <a:solidFill>
                <a:srgbClr val="000000"/>
              </a:solidFill>
              <a:effectLst/>
              <a:uFillTx/>
              <a:latin typeface="Arial"/>
            </a:endParaRPr>
          </a:p>
        </p:txBody>
      </p:sp>
      <p:sp>
        <p:nvSpPr>
          <p:cNvPr id="259"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0" name="Shape 4"/>
          <p:cNvSpPr/>
          <p:nvPr/>
        </p:nvSpPr>
        <p:spPr>
          <a:xfrm>
            <a:off x="557640" y="137160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1" name="Shape 5"/>
          <p:cNvSpPr/>
          <p:nvPr/>
        </p:nvSpPr>
        <p:spPr>
          <a:xfrm>
            <a:off x="557640" y="137160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2" name="Text 6"/>
          <p:cNvSpPr/>
          <p:nvPr/>
        </p:nvSpPr>
        <p:spPr>
          <a:xfrm>
            <a:off x="786240" y="137160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Seed</a:t>
            </a:r>
            <a:endParaRPr lang="en-US" sz="1500" b="0" u="none" strike="noStrike">
              <a:solidFill>
                <a:srgbClr val="000000"/>
              </a:solidFill>
              <a:effectLst/>
              <a:uFillTx/>
              <a:latin typeface="Arial"/>
            </a:endParaRPr>
          </a:p>
        </p:txBody>
      </p:sp>
      <p:sp>
        <p:nvSpPr>
          <p:cNvPr id="263" name="Text 7"/>
          <p:cNvSpPr/>
          <p:nvPr/>
        </p:nvSpPr>
        <p:spPr>
          <a:xfrm>
            <a:off x="2935080" y="137160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20261016</a:t>
            </a:r>
            <a:endParaRPr lang="en-US" sz="1500" b="0" u="none" strike="noStrike">
              <a:solidFill>
                <a:srgbClr val="000000"/>
              </a:solidFill>
              <a:effectLst/>
              <a:uFillTx/>
              <a:latin typeface="Arial"/>
            </a:endParaRPr>
          </a:p>
        </p:txBody>
      </p:sp>
      <p:sp>
        <p:nvSpPr>
          <p:cNvPr id="264" name="Shape 8"/>
          <p:cNvSpPr/>
          <p:nvPr/>
        </p:nvSpPr>
        <p:spPr>
          <a:xfrm>
            <a:off x="557640" y="221292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5" name="Shape 9"/>
          <p:cNvSpPr/>
          <p:nvPr/>
        </p:nvSpPr>
        <p:spPr>
          <a:xfrm>
            <a:off x="557640" y="221292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6" name="Text 10"/>
          <p:cNvSpPr/>
          <p:nvPr/>
        </p:nvSpPr>
        <p:spPr>
          <a:xfrm>
            <a:off x="786240" y="221292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Locus</a:t>
            </a:r>
            <a:endParaRPr lang="en-US" sz="1500" b="0" u="none" strike="noStrike">
              <a:solidFill>
                <a:srgbClr val="000000"/>
              </a:solidFill>
              <a:effectLst/>
              <a:uFillTx/>
              <a:latin typeface="Arial"/>
            </a:endParaRPr>
          </a:p>
        </p:txBody>
      </p:sp>
      <p:sp>
        <p:nvSpPr>
          <p:cNvPr id="267" name="Text 11"/>
          <p:cNvSpPr/>
          <p:nvPr/>
        </p:nvSpPr>
        <p:spPr>
          <a:xfrm>
            <a:off x="2935080" y="221292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200 SNPs; latent correlation of neighbours 0.97–0.995</a:t>
            </a:r>
            <a:endParaRPr lang="en-US" sz="1500" b="0" u="none" strike="noStrike">
              <a:solidFill>
                <a:srgbClr val="000000"/>
              </a:solidFill>
              <a:effectLst/>
              <a:uFillTx/>
              <a:latin typeface="Arial"/>
            </a:endParaRPr>
          </a:p>
        </p:txBody>
      </p:sp>
      <p:sp>
        <p:nvSpPr>
          <p:cNvPr id="268" name="Shape 12"/>
          <p:cNvSpPr/>
          <p:nvPr/>
        </p:nvSpPr>
        <p:spPr>
          <a:xfrm>
            <a:off x="557640" y="305424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9" name="Shape 13"/>
          <p:cNvSpPr/>
          <p:nvPr/>
        </p:nvSpPr>
        <p:spPr>
          <a:xfrm>
            <a:off x="557640" y="305424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0" name="Text 14"/>
          <p:cNvSpPr/>
          <p:nvPr/>
        </p:nvSpPr>
        <p:spPr>
          <a:xfrm>
            <a:off x="786240" y="305424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Study</a:t>
            </a:r>
            <a:endParaRPr lang="en-US" sz="1500" b="0" u="none" strike="noStrike">
              <a:solidFill>
                <a:srgbClr val="000000"/>
              </a:solidFill>
              <a:effectLst/>
              <a:uFillTx/>
              <a:latin typeface="Arial"/>
            </a:endParaRPr>
          </a:p>
        </p:txBody>
      </p:sp>
      <p:sp>
        <p:nvSpPr>
          <p:cNvPr id="271" name="Text 15"/>
          <p:cNvSpPr/>
          <p:nvPr/>
        </p:nvSpPr>
        <p:spPr>
          <a:xfrm>
            <a:off x="2935080" y="305424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N = 5,000; trait standardized; causal SNPs away from the edges</a:t>
            </a:r>
            <a:endParaRPr lang="en-US" sz="1500" b="0" u="none" strike="noStrike">
              <a:solidFill>
                <a:srgbClr val="000000"/>
              </a:solidFill>
              <a:effectLst/>
              <a:uFillTx/>
              <a:latin typeface="Arial"/>
            </a:endParaRPr>
          </a:p>
        </p:txBody>
      </p:sp>
      <p:sp>
        <p:nvSpPr>
          <p:cNvPr id="272" name="Shape 16"/>
          <p:cNvSpPr/>
          <p:nvPr/>
        </p:nvSpPr>
        <p:spPr>
          <a:xfrm>
            <a:off x="557640" y="389520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3" name="Shape 17"/>
          <p:cNvSpPr/>
          <p:nvPr/>
        </p:nvSpPr>
        <p:spPr>
          <a:xfrm>
            <a:off x="557640" y="389520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4" name="Text 18"/>
          <p:cNvSpPr/>
          <p:nvPr/>
        </p:nvSpPr>
        <p:spPr>
          <a:xfrm>
            <a:off x="786240" y="389520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Fine-mapping</a:t>
            </a:r>
            <a:endParaRPr lang="en-US" sz="1500" b="0" u="none" strike="noStrike">
              <a:solidFill>
                <a:srgbClr val="000000"/>
              </a:solidFill>
              <a:effectLst/>
              <a:uFillTx/>
              <a:latin typeface="Arial"/>
            </a:endParaRPr>
          </a:p>
        </p:txBody>
      </p:sp>
      <p:sp>
        <p:nvSpPr>
          <p:cNvPr id="275" name="Text 19"/>
          <p:cNvSpPr/>
          <p:nvPr/>
        </p:nvSpPr>
        <p:spPr>
          <a:xfrm>
            <a:off x="2935080" y="389520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approximate Bayes factors, prior sd 0.1, uniform prior over SNPs</a:t>
            </a:r>
            <a:endParaRPr lang="en-US" sz="1500" b="0" u="none" strike="noStrike">
              <a:solidFill>
                <a:srgbClr val="000000"/>
              </a:solidFill>
              <a:effectLst/>
              <a:uFillTx/>
              <a:latin typeface="Arial"/>
            </a:endParaRPr>
          </a:p>
        </p:txBody>
      </p:sp>
      <p:sp>
        <p:nvSpPr>
          <p:cNvPr id="276" name="Shape 20"/>
          <p:cNvSpPr/>
          <p:nvPr/>
        </p:nvSpPr>
        <p:spPr>
          <a:xfrm>
            <a:off x="557640" y="473652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Shape 21"/>
          <p:cNvSpPr/>
          <p:nvPr/>
        </p:nvSpPr>
        <p:spPr>
          <a:xfrm>
            <a:off x="557640" y="473652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8" name="Text 22"/>
          <p:cNvSpPr/>
          <p:nvPr/>
        </p:nvSpPr>
        <p:spPr>
          <a:xfrm>
            <a:off x="786240" y="473652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z-score check</a:t>
            </a:r>
            <a:endParaRPr lang="en-US" sz="1500" b="0" u="none" strike="noStrike">
              <a:solidFill>
                <a:srgbClr val="000000"/>
              </a:solidFill>
              <a:effectLst/>
              <a:uFillTx/>
              <a:latin typeface="Arial"/>
            </a:endParaRPr>
          </a:p>
        </p:txBody>
      </p:sp>
      <p:sp>
        <p:nvSpPr>
          <p:cNvPr id="279" name="Text 23"/>
          <p:cNvSpPr/>
          <p:nvPr/>
        </p:nvSpPr>
        <p:spPr>
          <a:xfrm>
            <a:off x="2935080" y="473652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LD matrix + 0.1 × identity, inverted once per locus</a:t>
            </a:r>
            <a:endParaRPr lang="en-US" sz="1500" b="0" u="none" strike="noStrike">
              <a:solidFill>
                <a:srgbClr val="000000"/>
              </a:solidFill>
              <a:effectLst/>
              <a:uFillTx/>
              <a:latin typeface="Arial"/>
            </a:endParaRPr>
          </a:p>
        </p:txBody>
      </p:sp>
      <p:sp>
        <p:nvSpPr>
          <p:cNvPr id="280" name="PlaceHolder 1"/>
          <p:cNvSpPr>
            <a:spLocks noGrp="1"/>
          </p:cNvSpPr>
          <p:nvPr>
            <p:ph type="sldNum" idx="14"/>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67D96945-015D-42E9-AC95-4651C6890FCD}" type="slidenum">
              <a:rPr lang="en-US" sz="1400" b="0" u="none" strike="noStrike">
                <a:solidFill>
                  <a:srgbClr val="162B43"/>
                </a:solidFill>
                <a:effectLst/>
                <a:uFillTx/>
                <a:latin typeface="Arial"/>
                <a:ea typeface="Arial"/>
              </a:rPr>
              <a:t>&lt;number&gt;</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281" name="Shape 0"/>
          <p:cNvSpPr/>
          <p:nvPr/>
        </p:nvSpPr>
        <p:spPr>
          <a:xfrm>
            <a:off x="0" y="0"/>
            <a:ext cx="63720" cy="685764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2" name="Text 1"/>
          <p:cNvSpPr/>
          <p:nvPr/>
        </p:nvSpPr>
        <p:spPr>
          <a:xfrm>
            <a:off x="557640" y="255960"/>
            <a:ext cx="11130480" cy="42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2400" b="1" u="none" strike="noStrike">
                <a:solidFill>
                  <a:srgbClr val="162B43"/>
                </a:solidFill>
                <a:effectLst/>
                <a:uFillTx/>
                <a:latin typeface="Arial"/>
                <a:ea typeface="Arial"/>
              </a:rPr>
              <a:t>(Supp.) Glossary</a:t>
            </a:r>
            <a:endParaRPr lang="en-US" sz="2400" b="0" u="none" strike="noStrike">
              <a:solidFill>
                <a:srgbClr val="000000"/>
              </a:solidFill>
              <a:effectLst/>
              <a:uFillTx/>
              <a:latin typeface="Arial"/>
            </a:endParaRPr>
          </a:p>
        </p:txBody>
      </p:sp>
      <p:sp>
        <p:nvSpPr>
          <p:cNvPr id="283" name="Text 2"/>
          <p:cNvSpPr/>
          <p:nvPr/>
        </p:nvSpPr>
        <p:spPr>
          <a:xfrm>
            <a:off x="557640" y="713160"/>
            <a:ext cx="11130480" cy="292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400" b="0" u="none" strike="noStrike">
                <a:solidFill>
                  <a:srgbClr val="53677F"/>
                </a:solidFill>
                <a:effectLst/>
                <a:uFillTx/>
                <a:latin typeface="Arial"/>
                <a:ea typeface="Arial"/>
              </a:rPr>
              <a:t>Terms used on the main slides</a:t>
            </a:r>
            <a:endParaRPr lang="en-US" sz="1400" b="0" u="none" strike="noStrike">
              <a:solidFill>
                <a:srgbClr val="000000"/>
              </a:solidFill>
              <a:effectLst/>
              <a:uFillTx/>
              <a:latin typeface="Arial"/>
            </a:endParaRPr>
          </a:p>
        </p:txBody>
      </p:sp>
      <p:sp>
        <p:nvSpPr>
          <p:cNvPr id="284" name="Shape 3"/>
          <p:cNvSpPr/>
          <p:nvPr/>
        </p:nvSpPr>
        <p:spPr>
          <a:xfrm>
            <a:off x="557640" y="1042200"/>
            <a:ext cx="11130840" cy="360"/>
          </a:xfrm>
          <a:prstGeom prst="line">
            <a:avLst/>
          </a:prstGeom>
          <a:ln w="12700">
            <a:solidFill>
              <a:srgbClr val="D8E1E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85" name="Shape 4"/>
          <p:cNvSpPr/>
          <p:nvPr/>
        </p:nvSpPr>
        <p:spPr>
          <a:xfrm>
            <a:off x="557640" y="137160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6" name="Shape 5"/>
          <p:cNvSpPr/>
          <p:nvPr/>
        </p:nvSpPr>
        <p:spPr>
          <a:xfrm>
            <a:off x="557640" y="137160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6"/>
          <p:cNvSpPr/>
          <p:nvPr/>
        </p:nvSpPr>
        <p:spPr>
          <a:xfrm>
            <a:off x="786240" y="137160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PIP</a:t>
            </a:r>
            <a:endParaRPr lang="en-US" sz="1500" b="0" u="none" strike="noStrike">
              <a:solidFill>
                <a:srgbClr val="000000"/>
              </a:solidFill>
              <a:effectLst/>
              <a:uFillTx/>
              <a:latin typeface="Arial"/>
            </a:endParaRPr>
          </a:p>
        </p:txBody>
      </p:sp>
      <p:sp>
        <p:nvSpPr>
          <p:cNvPr id="288" name="Text 7"/>
          <p:cNvSpPr/>
          <p:nvPr/>
        </p:nvSpPr>
        <p:spPr>
          <a:xfrm>
            <a:off x="2935080" y="137160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posterior inclusion probability: the chance that SNP j is the causal one</a:t>
            </a:r>
            <a:endParaRPr lang="en-US" sz="1500" b="0" u="none" strike="noStrike">
              <a:solidFill>
                <a:srgbClr val="000000"/>
              </a:solidFill>
              <a:effectLst/>
              <a:uFillTx/>
              <a:latin typeface="Arial"/>
            </a:endParaRPr>
          </a:p>
        </p:txBody>
      </p:sp>
      <p:sp>
        <p:nvSpPr>
          <p:cNvPr id="289" name="Shape 8"/>
          <p:cNvSpPr/>
          <p:nvPr/>
        </p:nvSpPr>
        <p:spPr>
          <a:xfrm>
            <a:off x="557640" y="221292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0" name="Shape 9"/>
          <p:cNvSpPr/>
          <p:nvPr/>
        </p:nvSpPr>
        <p:spPr>
          <a:xfrm>
            <a:off x="557640" y="221292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1" name="Text 10"/>
          <p:cNvSpPr/>
          <p:nvPr/>
        </p:nvSpPr>
        <p:spPr>
          <a:xfrm>
            <a:off x="786240" y="221292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Credible set</a:t>
            </a:r>
            <a:endParaRPr lang="en-US" sz="1500" b="0" u="none" strike="noStrike">
              <a:solidFill>
                <a:srgbClr val="000000"/>
              </a:solidFill>
              <a:effectLst/>
              <a:uFillTx/>
              <a:latin typeface="Arial"/>
            </a:endParaRPr>
          </a:p>
        </p:txBody>
      </p:sp>
      <p:sp>
        <p:nvSpPr>
          <p:cNvPr id="292" name="Text 11"/>
          <p:cNvSpPr/>
          <p:nvPr/>
        </p:nvSpPr>
        <p:spPr>
          <a:xfrm>
            <a:off x="2935080" y="221292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smallest set of SNPs holding at least 95% of the posterior probability</a:t>
            </a:r>
            <a:endParaRPr lang="en-US" sz="1500" b="0" u="none" strike="noStrike">
              <a:solidFill>
                <a:srgbClr val="000000"/>
              </a:solidFill>
              <a:effectLst/>
              <a:uFillTx/>
              <a:latin typeface="Arial"/>
            </a:endParaRPr>
          </a:p>
        </p:txBody>
      </p:sp>
      <p:sp>
        <p:nvSpPr>
          <p:cNvPr id="293" name="Shape 12"/>
          <p:cNvSpPr/>
          <p:nvPr/>
        </p:nvSpPr>
        <p:spPr>
          <a:xfrm>
            <a:off x="557640" y="305424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4" name="Shape 13"/>
          <p:cNvSpPr/>
          <p:nvPr/>
        </p:nvSpPr>
        <p:spPr>
          <a:xfrm>
            <a:off x="557640" y="305424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5" name="Text 14"/>
          <p:cNvSpPr/>
          <p:nvPr/>
        </p:nvSpPr>
        <p:spPr>
          <a:xfrm>
            <a:off x="786240" y="305424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Coverage</a:t>
            </a:r>
            <a:endParaRPr lang="en-US" sz="1500" b="0" u="none" strike="noStrike">
              <a:solidFill>
                <a:srgbClr val="000000"/>
              </a:solidFill>
              <a:effectLst/>
              <a:uFillTx/>
              <a:latin typeface="Arial"/>
            </a:endParaRPr>
          </a:p>
        </p:txBody>
      </p:sp>
      <p:sp>
        <p:nvSpPr>
          <p:cNvPr id="296" name="Text 15"/>
          <p:cNvSpPr/>
          <p:nvPr/>
        </p:nvSpPr>
        <p:spPr>
          <a:xfrm>
            <a:off x="2935080" y="305424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share of loci whose credible set contains a causal SNP</a:t>
            </a:r>
            <a:endParaRPr lang="en-US" sz="1500" b="0" u="none" strike="noStrike">
              <a:solidFill>
                <a:srgbClr val="000000"/>
              </a:solidFill>
              <a:effectLst/>
              <a:uFillTx/>
              <a:latin typeface="Arial"/>
            </a:endParaRPr>
          </a:p>
        </p:txBody>
      </p:sp>
      <p:sp>
        <p:nvSpPr>
          <p:cNvPr id="297" name="Shape 16"/>
          <p:cNvSpPr/>
          <p:nvPr/>
        </p:nvSpPr>
        <p:spPr>
          <a:xfrm>
            <a:off x="557640" y="389520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8" name="Shape 17"/>
          <p:cNvSpPr/>
          <p:nvPr/>
        </p:nvSpPr>
        <p:spPr>
          <a:xfrm>
            <a:off x="557640" y="389520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9" name="Text 18"/>
          <p:cNvSpPr/>
          <p:nvPr/>
        </p:nvSpPr>
        <p:spPr>
          <a:xfrm>
            <a:off x="786240" y="389520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PVE</a:t>
            </a:r>
            <a:endParaRPr lang="en-US" sz="1500" b="0" u="none" strike="noStrike">
              <a:solidFill>
                <a:srgbClr val="000000"/>
              </a:solidFill>
              <a:effectLst/>
              <a:uFillTx/>
              <a:latin typeface="Arial"/>
            </a:endParaRPr>
          </a:p>
        </p:txBody>
      </p:sp>
      <p:sp>
        <p:nvSpPr>
          <p:cNvPr id="300" name="Text 19"/>
          <p:cNvSpPr/>
          <p:nvPr/>
        </p:nvSpPr>
        <p:spPr>
          <a:xfrm>
            <a:off x="2935080" y="389520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proportion of trait variance explained by a causal SNP</a:t>
            </a:r>
            <a:endParaRPr lang="en-US" sz="1500" b="0" u="none" strike="noStrike">
              <a:solidFill>
                <a:srgbClr val="000000"/>
              </a:solidFill>
              <a:effectLst/>
              <a:uFillTx/>
              <a:latin typeface="Arial"/>
            </a:endParaRPr>
          </a:p>
        </p:txBody>
      </p:sp>
      <p:sp>
        <p:nvSpPr>
          <p:cNvPr id="301" name="Shape 20"/>
          <p:cNvSpPr/>
          <p:nvPr/>
        </p:nvSpPr>
        <p:spPr>
          <a:xfrm>
            <a:off x="557640" y="4736520"/>
            <a:ext cx="11130480" cy="658080"/>
          </a:xfrm>
          <a:prstGeom prst="roundRect">
            <a:avLst>
              <a:gd name="adj" fmla="val 4861"/>
            </a:avLst>
          </a:prstGeom>
          <a:solidFill>
            <a:srgbClr val="FFFFFF"/>
          </a:solidFill>
          <a:ln w="9525">
            <a:solidFill>
              <a:srgbClr val="D8E1E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2" name="Shape 21"/>
          <p:cNvSpPr/>
          <p:nvPr/>
        </p:nvSpPr>
        <p:spPr>
          <a:xfrm>
            <a:off x="557640" y="4736520"/>
            <a:ext cx="54360" cy="658080"/>
          </a:xfrm>
          <a:prstGeom prst="rect">
            <a:avLst/>
          </a:prstGeom>
          <a:solidFill>
            <a:srgbClr val="315DA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3" name="Text 22"/>
          <p:cNvSpPr/>
          <p:nvPr/>
        </p:nvSpPr>
        <p:spPr>
          <a:xfrm>
            <a:off x="786240" y="4736520"/>
            <a:ext cx="20570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1" u="none" strike="noStrike">
                <a:solidFill>
                  <a:srgbClr val="162B43"/>
                </a:solidFill>
                <a:effectLst/>
                <a:uFillTx/>
                <a:latin typeface="Arial"/>
                <a:ea typeface="Arial"/>
              </a:rPr>
              <a:t>LD</a:t>
            </a:r>
            <a:endParaRPr lang="en-US" sz="1500" b="0" u="none" strike="noStrike">
              <a:solidFill>
                <a:srgbClr val="000000"/>
              </a:solidFill>
              <a:effectLst/>
              <a:uFillTx/>
              <a:latin typeface="Arial"/>
            </a:endParaRPr>
          </a:p>
        </p:txBody>
      </p:sp>
      <p:sp>
        <p:nvSpPr>
          <p:cNvPr id="304" name="Text 23"/>
          <p:cNvSpPr/>
          <p:nvPr/>
        </p:nvSpPr>
        <p:spPr>
          <a:xfrm>
            <a:off x="2935080" y="4736520"/>
            <a:ext cx="8524440" cy="6580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500" b="0" u="none" strike="noStrike">
                <a:solidFill>
                  <a:srgbClr val="40546C"/>
                </a:solidFill>
                <a:effectLst/>
                <a:uFillTx/>
                <a:latin typeface="Arial"/>
                <a:ea typeface="Arial"/>
              </a:rPr>
              <a:t>linkage disequilibrium: correlation between nearby SNPs</a:t>
            </a:r>
            <a:endParaRPr lang="en-US" sz="1500" b="0" u="none" strike="noStrike">
              <a:solidFill>
                <a:srgbClr val="000000"/>
              </a:solidFill>
              <a:effectLst/>
              <a:uFillTx/>
              <a:latin typeface="Arial"/>
            </a:endParaRPr>
          </a:p>
        </p:txBody>
      </p:sp>
      <p:sp>
        <p:nvSpPr>
          <p:cNvPr id="305" name="PlaceHolder 1"/>
          <p:cNvSpPr>
            <a:spLocks noGrp="1"/>
          </p:cNvSpPr>
          <p:nvPr>
            <p:ph type="sldNum" idx="15"/>
          </p:nvPr>
        </p:nvSpPr>
        <p:spPr>
          <a:xfrm>
            <a:off x="11533320" y="641916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400" b="0" u="none" strike="noStrike">
                <a:solidFill>
                  <a:srgbClr val="162B43"/>
                </a:solidFill>
                <a:effectLst/>
                <a:uFillTx/>
                <a:latin typeface="Arial"/>
                <a:ea typeface="Arial"/>
              </a:defRPr>
            </a:lvl1pPr>
          </a:lstStyle>
          <a:p>
            <a:pPr indent="0" algn="r" defTabSz="914400">
              <a:lnSpc>
                <a:spcPct val="100000"/>
              </a:lnSpc>
              <a:buNone/>
            </a:pPr>
            <a:fld id="{AF13DEA2-5135-45F6-9C0E-A4E89A07F539}" type="slidenum">
              <a:rPr lang="en-US" sz="1400" b="0" u="none" strike="noStrike">
                <a:solidFill>
                  <a:srgbClr val="162B43"/>
                </a:solidFill>
                <a:effectLst/>
                <a:uFillTx/>
                <a:latin typeface="Arial"/>
                <a:ea typeface="Arial"/>
              </a:rPr>
              <a:t>&lt;number&gt;</a:t>
            </a:fld>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LibreOffice/26.2.4.2$MacOSX_AARCH64 LibreOffice_project/0229ac93fcf0d7cbc6376066c6f35021cef002dc</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2026-10-16T21:22:44Z</dcterms:created>
  <dc:creator>PptxGenJS</dc:creator>
  <dc:description/>
  <dc:language>en-US</dc:language>
  <cp:lastModifiedBy>PptxGenJS</cp:lastModifiedBy>
  <dcterms:modified xsi:type="dcterms:W3CDTF">2026-10-16T21:22:44Z</dcterms:modified>
  <cp:revision>1</cp:revision>
  <dc:subject>PptxGenJS Presentation</dc:subject>
  <dc:title>Fine-mapping demo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12</vt:r8>
  </property>
  <property fmtid="{D5CDD505-2E9C-101B-9397-08002B2CF9AE}" pid="3" name="PresentationFormat">
    <vt:lpwstr>On-screen Show (16:9)</vt:lpwstr>
  </property>
  <property fmtid="{D5CDD505-2E9C-101B-9397-08002B2CF9AE}" pid="4" name="Slides">
    <vt:r8>12</vt:r8>
  </property>
</Properties>
</file>