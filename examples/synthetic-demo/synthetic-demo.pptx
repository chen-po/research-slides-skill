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media/image2.emf" ContentType="image/x-emf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6C8EF13-B202-4D2F-BCF9-0E7627EB03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8A6BFA-B16C-4829-87A3-161BC03B8B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530CB7-DACB-4D6A-926A-662E708F03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Takeaway: the whole method is four steps; the next slides open each box.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167C0-60AA-4282-9C2D-7F67E087E3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162B3-2781-4678-ABE4-286872D11E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Takeaway: the gain is not driven by single-variant signals. Source: Fig. 3b.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5AB30B-78C4-489F-8ACE-621A25C8E8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0AB670-5F32-4E6B-BA3D-84B0CAA11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the product form before showing the figure.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39FDB-10FE-4C94-B005-477809A664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2AB464-C7F4-4991-8A17-9F426871B1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DBDF7F-AE9A-4DE7-8E34-8A1C86444D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32BD9D-F47C-4C3E-9F58-C9BE1F014E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CDE433C-7415-4741-B23E-C92522B20D5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D795A-902D-4961-9E83-8A47F4C2625A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e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57640" y="255960"/>
            <a:ext cx="11130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Lab meeting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57640" y="731520"/>
            <a:ext cx="11130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Research progress · 13 October 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557640" y="1371600"/>
            <a:ext cx="11130480" cy="4343040"/>
          </a:xfrm>
          <a:prstGeom prst="roundRect">
            <a:avLst>
              <a:gd name="adj" fmla="val 1684"/>
            </a:avLst>
          </a:prstGeom>
          <a:solidFill>
            <a:srgbClr val="162B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1014840" y="1938600"/>
            <a:ext cx="822600" cy="54360"/>
          </a:xfrm>
          <a:prstGeom prst="rect">
            <a:avLst/>
          </a:prstGeom>
          <a:solidFill>
            <a:srgbClr val="7FD1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014840" y="2148840"/>
            <a:ext cx="10216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Method X: tissue prioritization with a hierarchical model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014840" y="3611880"/>
            <a:ext cx="10216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6E6"/>
                </a:solidFill>
                <a:effectLst/>
                <a:uFillTx/>
                <a:latin typeface="Arial"/>
                <a:ea typeface="Arial"/>
              </a:rPr>
              <a:t>What it estimates, and when it fails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014840" y="4983480"/>
            <a:ext cx="10216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FD1C7"/>
                </a:solidFill>
                <a:effectLst/>
                <a:uFillTx/>
                <a:latin typeface="Arial"/>
                <a:ea typeface="Arial"/>
              </a:rPr>
              <a:t>A. Researcher · Example Lab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57640" y="1691640"/>
            <a:ext cx="2011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2797920" y="1874520"/>
            <a:ext cx="27000" cy="1005480"/>
          </a:xfrm>
          <a:prstGeom prst="rect">
            <a:avLst/>
          </a:prstGeom>
          <a:solidFill>
            <a:srgbClr val="A7B8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117960" y="1783080"/>
            <a:ext cx="838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Background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3117960" y="2487240"/>
            <a:ext cx="8387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Why ranking annotations one at a time is not enough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557640" y="4480560"/>
            <a:ext cx="3557520" cy="6372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55764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01   Background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4344480" y="4480560"/>
            <a:ext cx="3557520" cy="27000"/>
          </a:xfrm>
          <a:prstGeom prst="rect">
            <a:avLst/>
          </a:prstGeom>
          <a:solidFill>
            <a:srgbClr val="D8E1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434448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02   Method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8130960" y="4480560"/>
            <a:ext cx="3557520" cy="27000"/>
          </a:xfrm>
          <a:prstGeom prst="rect">
            <a:avLst/>
          </a:prstGeom>
          <a:solidFill>
            <a:srgbClr val="D8E1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813096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03   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4599F7-0A6E-42BD-91AF-D5B0F1586BEC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57640" y="255960"/>
            <a:ext cx="11130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The pipeline end to end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557640" y="713160"/>
            <a:ext cx="11130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Each box is expanded on a later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557640" y="1042200"/>
            <a:ext cx="11130840" cy="360"/>
          </a:xfrm>
          <a:prstGeom prst="line">
            <a:avLst/>
          </a:prstGeom>
          <a:ln w="12700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557640" y="1371600"/>
            <a:ext cx="2494440" cy="1096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557640" y="1371600"/>
            <a:ext cx="54360" cy="1096920"/>
          </a:xfrm>
          <a:prstGeom prst="rect">
            <a:avLst/>
          </a:prstGeom>
          <a:solidFill>
            <a:srgbClr val="162B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786240" y="1508760"/>
            <a:ext cx="21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GWAS summary stats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786240" y="1920240"/>
            <a:ext cx="21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z-scores and sample size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3125520" y="1920240"/>
            <a:ext cx="237600" cy="360"/>
          </a:xfrm>
          <a:prstGeom prst="line">
            <a:avLst/>
          </a:prstGeom>
          <a:ln w="25400">
            <a:solidFill>
              <a:srgbClr val="5E6B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3436560" y="1371600"/>
            <a:ext cx="2494440" cy="1096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3436560" y="1371600"/>
            <a:ext cx="54360" cy="1096920"/>
          </a:xfrm>
          <a:prstGeom prst="rect">
            <a:avLst/>
          </a:prstGeom>
          <a:solidFill>
            <a:srgbClr val="162B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3665160" y="1508760"/>
            <a:ext cx="21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LD reference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3665160" y="1920240"/>
            <a:ext cx="21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ancestry-matched panel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6004080" y="1920240"/>
            <a:ext cx="237960" cy="360"/>
          </a:xfrm>
          <a:prstGeom prst="line">
            <a:avLst/>
          </a:prstGeom>
          <a:ln w="25400">
            <a:solidFill>
              <a:srgbClr val="5E6B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4"/>
          <p:cNvSpPr/>
          <p:nvPr/>
        </p:nvSpPr>
        <p:spPr>
          <a:xfrm>
            <a:off x="6315480" y="1371600"/>
            <a:ext cx="2494440" cy="1096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5"/>
          <p:cNvSpPr/>
          <p:nvPr/>
        </p:nvSpPr>
        <p:spPr>
          <a:xfrm>
            <a:off x="6315480" y="1371600"/>
            <a:ext cx="54360" cy="109692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6544080" y="1508760"/>
            <a:ext cx="21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Fit the model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6544080" y="1920240"/>
            <a:ext cx="21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MCMC, 4 chains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8"/>
          <p:cNvSpPr/>
          <p:nvPr/>
        </p:nvSpPr>
        <p:spPr>
          <a:xfrm>
            <a:off x="8883000" y="1920240"/>
            <a:ext cx="237600" cy="360"/>
          </a:xfrm>
          <a:prstGeom prst="line">
            <a:avLst/>
          </a:prstGeom>
          <a:ln w="25400">
            <a:solidFill>
              <a:srgbClr val="5E6B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9"/>
          <p:cNvSpPr/>
          <p:nvPr/>
        </p:nvSpPr>
        <p:spPr>
          <a:xfrm>
            <a:off x="9194040" y="1371600"/>
            <a:ext cx="2494440" cy="1096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0"/>
          <p:cNvSpPr/>
          <p:nvPr/>
        </p:nvSpPr>
        <p:spPr>
          <a:xfrm>
            <a:off x="9194040" y="1371600"/>
            <a:ext cx="54360" cy="1096920"/>
          </a:xfrm>
          <a:prstGeom prst="rect">
            <a:avLst/>
          </a:prstGeom>
          <a:solidFill>
            <a:srgbClr val="167E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9422640" y="1508760"/>
            <a:ext cx="21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67E82"/>
                </a:solidFill>
                <a:effectLst/>
                <a:uFillTx/>
                <a:latin typeface="Arial"/>
                <a:ea typeface="Arial"/>
              </a:rPr>
              <a:t>Read out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9422640" y="1920240"/>
            <a:ext cx="21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tissue-level posteriors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786240" y="2926080"/>
            <a:ext cx="226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39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4"/>
          <p:cNvSpPr/>
          <p:nvPr/>
        </p:nvSpPr>
        <p:spPr>
          <a:xfrm>
            <a:off x="786240" y="3429000"/>
            <a:ext cx="226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traits analysed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5"/>
          <p:cNvSpPr/>
          <p:nvPr/>
        </p:nvSpPr>
        <p:spPr>
          <a:xfrm>
            <a:off x="3665160" y="2926080"/>
            <a:ext cx="226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1,588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6"/>
          <p:cNvSpPr/>
          <p:nvPr/>
        </p:nvSpPr>
        <p:spPr>
          <a:xfrm>
            <a:off x="3665160" y="3429000"/>
            <a:ext cx="226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LD blocks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7"/>
          <p:cNvSpPr/>
          <p:nvPr/>
        </p:nvSpPr>
        <p:spPr>
          <a:xfrm>
            <a:off x="6544080" y="2926080"/>
            <a:ext cx="226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13 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8"/>
          <p:cNvSpPr/>
          <p:nvPr/>
        </p:nvSpPr>
        <p:spPr>
          <a:xfrm>
            <a:off x="6544080" y="3429000"/>
            <a:ext cx="226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per trait on 24 cores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9"/>
          <p:cNvSpPr/>
          <p:nvPr/>
        </p:nvSpPr>
        <p:spPr>
          <a:xfrm>
            <a:off x="9422640" y="2926080"/>
            <a:ext cx="226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67E82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0"/>
          <p:cNvSpPr/>
          <p:nvPr/>
        </p:nvSpPr>
        <p:spPr>
          <a:xfrm>
            <a:off x="9422640" y="3429000"/>
            <a:ext cx="2265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tissues ranked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1"/>
          <p:cNvSpPr/>
          <p:nvPr/>
        </p:nvSpPr>
        <p:spPr>
          <a:xfrm>
            <a:off x="557640" y="576072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E6B6F"/>
                </a:solidFill>
                <a:effectLst/>
                <a:uFillTx/>
                <a:latin typeface="Arial"/>
                <a:ea typeface="Arial"/>
              </a:rPr>
              <a:t>All numbers: Methods, p. 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sldNum" idx="6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0936AB-A3FF-46F2-B427-B3DA1B02D513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57640" y="1691640"/>
            <a:ext cx="2011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2797920" y="1874520"/>
            <a:ext cx="27000" cy="1005480"/>
          </a:xfrm>
          <a:prstGeom prst="rect">
            <a:avLst/>
          </a:prstGeom>
          <a:solidFill>
            <a:srgbClr val="A7B8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3117960" y="1783080"/>
            <a:ext cx="838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Method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3117960" y="2487240"/>
            <a:ext cx="8387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One hierarchical model instead of separate rankings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557640" y="4480560"/>
            <a:ext cx="3557520" cy="27000"/>
          </a:xfrm>
          <a:prstGeom prst="rect">
            <a:avLst/>
          </a:prstGeom>
          <a:solidFill>
            <a:srgbClr val="D8E1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55764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01   Background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4344480" y="4480560"/>
            <a:ext cx="3557520" cy="6372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434448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02   Method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8130960" y="4480560"/>
            <a:ext cx="3557520" cy="27000"/>
          </a:xfrm>
          <a:prstGeom prst="rect">
            <a:avLst/>
          </a:prstGeom>
          <a:solidFill>
            <a:srgbClr val="D8E1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813096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03   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sldNum" idx="7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803D3F-3D8A-4FF8-8575-1022449AD3DF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57640" y="255960"/>
            <a:ext cx="11130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More discoveries with annotation-informed masks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557640" y="713160"/>
            <a:ext cx="11130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Same data and tests; only the masks differ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557640" y="1042200"/>
            <a:ext cx="11130840" cy="360"/>
          </a:xfrm>
          <a:prstGeom prst="line">
            <a:avLst/>
          </a:prstGeom>
          <a:ln w="12700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557640" y="1371600"/>
            <a:ext cx="5394600" cy="3291480"/>
          </a:xfrm>
          <a:prstGeom prst="roundRect">
            <a:avLst>
              <a:gd name="adj" fmla="val 972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557640" y="1371600"/>
            <a:ext cx="54360" cy="329148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786240" y="1508760"/>
            <a:ext cx="5028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Associations found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786240" y="219456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Baseline masks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3163680" y="2231280"/>
            <a:ext cx="1718640" cy="237240"/>
          </a:xfrm>
          <a:prstGeom prst="rect">
            <a:avLst/>
          </a:prstGeom>
          <a:solidFill>
            <a:srgbClr val="5E6B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4974120" y="2194560"/>
            <a:ext cx="1096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E6B6F"/>
                </a:solidFill>
                <a:effectLst/>
                <a:uFillTx/>
                <a:latin typeface="Arial"/>
                <a:ea typeface="Arial"/>
              </a:rPr>
              <a:t>595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786240" y="269748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Baseline + model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3163680" y="2734200"/>
            <a:ext cx="2102760" cy="2372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5358240" y="2697480"/>
            <a:ext cx="1096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728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786240" y="35204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+22% over baseline masks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4"/>
          <p:cNvSpPr/>
          <p:nvPr/>
        </p:nvSpPr>
        <p:spPr>
          <a:xfrm>
            <a:off x="6318360" y="1371600"/>
            <a:ext cx="5369760" cy="3291480"/>
          </a:xfrm>
          <a:prstGeom prst="roundRect">
            <a:avLst>
              <a:gd name="adj" fmla="val 972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6318360" y="1371600"/>
            <a:ext cx="54360" cy="329148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546960" y="1508760"/>
            <a:ext cx="500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Signals survive adjustment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6546960" y="1920240"/>
            <a:ext cx="50040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Model vs baseline masks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Before QTL removal: 343 vs 385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After QTL removal: 177 vs 64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Retained: 52% vs 17%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557640" y="4983480"/>
            <a:ext cx="3017160" cy="310680"/>
          </a:xfrm>
          <a:prstGeom prst="roundRect">
            <a:avLst>
              <a:gd name="adj" fmla="val 50000"/>
            </a:avLst>
          </a:prstGeom>
          <a:solidFill>
            <a:srgbClr val="FBE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557640" y="498348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9A4313"/>
                </a:solidFill>
                <a:effectLst/>
                <a:uFillTx/>
                <a:latin typeface="Arial"/>
                <a:ea typeface="Arial"/>
              </a:rPr>
              <a:t>Preprint, not yet peer reviewed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8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A171FF-EE6A-41C7-964D-820C712F5342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57640" y="1691640"/>
            <a:ext cx="2011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2797920" y="1874520"/>
            <a:ext cx="27000" cy="1005480"/>
          </a:xfrm>
          <a:prstGeom prst="rect">
            <a:avLst/>
          </a:prstGeom>
          <a:solidFill>
            <a:srgbClr val="A7B8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3117960" y="1783080"/>
            <a:ext cx="8387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Results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3117960" y="2487240"/>
            <a:ext cx="8387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Breast cancer as the worked example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557640" y="4480560"/>
            <a:ext cx="3557520" cy="27000"/>
          </a:xfrm>
          <a:prstGeom prst="rect">
            <a:avLst/>
          </a:prstGeom>
          <a:solidFill>
            <a:srgbClr val="D8E1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55764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01   Background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4344480" y="4480560"/>
            <a:ext cx="3557520" cy="27000"/>
          </a:xfrm>
          <a:prstGeom prst="rect">
            <a:avLst/>
          </a:prstGeom>
          <a:solidFill>
            <a:srgbClr val="D8E1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434448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02   Method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8130960" y="4480560"/>
            <a:ext cx="3557520" cy="6372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8130960" y="4645080"/>
            <a:ext cx="3557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5DA8"/>
                </a:solidFill>
                <a:effectLst/>
                <a:uFillTx/>
                <a:latin typeface="Arial"/>
                <a:ea typeface="Arial"/>
              </a:rPr>
              <a:t>03   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9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26D006-0938-4DA6-9E4D-A929935094FB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57640" y="255960"/>
            <a:ext cx="11130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What the posterior inclusion probability means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557640" y="713160"/>
            <a:ext cx="11130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One picture, one equation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557640" y="1042200"/>
            <a:ext cx="11130840" cy="360"/>
          </a:xfrm>
          <a:prstGeom prst="line">
            <a:avLst/>
          </a:prstGeom>
          <a:ln w="12700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0" descr="/private/tmp/claude-501/-Users-chenpo-Library-Mobile-Documents-com-apple-CloudDocs-Note/a93c7993-84ec-4f3a-94fd-a9cdc47f2484/scratchpad/repo/research-slides-skill/examples/synthetic-demo/placeholder.png"/>
          <p:cNvPicPr/>
          <p:nvPr/>
        </p:nvPicPr>
        <p:blipFill>
          <a:blip r:embed="rId1"/>
          <a:stretch/>
        </p:blipFill>
        <p:spPr>
          <a:xfrm>
            <a:off x="557640" y="1371600"/>
            <a:ext cx="6034680" cy="432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4"/>
          <p:cNvSpPr/>
          <p:nvPr/>
        </p:nvSpPr>
        <p:spPr>
          <a:xfrm>
            <a:off x="557640" y="576972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E6B6F"/>
                </a:solidFill>
                <a:effectLst/>
                <a:uFillTx/>
                <a:latin typeface="Arial"/>
                <a:ea typeface="Arial"/>
              </a:rPr>
              <a:t>Simulated locus for illustration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6958440" y="1371600"/>
            <a:ext cx="4729680" cy="210276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958440" y="1371600"/>
            <a:ext cx="54360" cy="21027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7187040" y="1508760"/>
            <a:ext cx="4363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Definition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8" name="Text 8"/>
              <p:cNvSpPr txBox="1"/>
              <p:nvPr/>
            </p:nvSpPr>
            <p:spPr>
              <a:xfrm>
                <a:off x="7187040" y="1920240"/>
                <a:ext cx="3291480" cy="822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PIP</m:t>
                        </m:r>
                      </m:e>
                      <m:sub>
                        <m:r>
                          <m:t xml:space="preserve">j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 </m:t>
                    </m:r>
                    <m:r>
                      <m:rPr>
                        <m:lit/>
                        <m:nor/>
                      </m:rP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 </m:t>
                    </m:r>
                    <m:r>
                      <m:t xml:space="preserve">1</m:t>
                    </m:r>
                    <m:r>
                      <m:rPr>
                        <m:lit/>
                        <m:nor/>
                      </m:rPr>
                      <m:t xml:space="preserve"> 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 </m:t>
                    </m:r>
                    <m:nary>
                      <m:naryPr>
                        <m:chr m:val="∏"/>
                        <m:supHide m:val="1"/>
                      </m:naryPr>
                      <m:sub>
                        <m:r>
                          <m:t xml:space="preserve">l</m:t>
                        </m:r>
                      </m:sub>
                      <m:sup/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1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 </m:t>
                            </m:r>
                            <m:r>
                              <m:t xml:space="preserve">−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 </m:t>
                            </m:r>
                            <m:sSub>
                              <m:e>
                                <m:r>
                                  <m:t xml:space="preserve">α</m:t>
                                </m:r>
                              </m:e>
                              <m:sub>
                                <m:r>
                                  <m:t xml:space="preserve">lj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18" name="Text 8"/>
              <p:cNvSpPr txBox="1"/>
              <p:nvPr/>
            </p:nvSpPr>
            <p:spPr>
              <a:xfrm>
                <a:off x="7187040" y="1920240"/>
                <a:ext cx="3291480" cy="822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19" name="Text 9"/>
          <p:cNvSpPr/>
          <p:nvPr/>
        </p:nvSpPr>
        <p:spPr>
          <a:xfrm>
            <a:off x="7187040" y="2834640"/>
            <a:ext cx="4363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product over the L single effects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6958440" y="3703320"/>
            <a:ext cx="4729680" cy="201132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6958440" y="3703320"/>
            <a:ext cx="54360" cy="201132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7187040" y="3840480"/>
            <a:ext cx="4363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How to read the plot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7187040" y="4251960"/>
            <a:ext cx="4363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Blue points: PIP above 0.5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Grey points: little evidence of a causal effect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sldNum" idx="10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4CC4BA-F7FC-45FE-BDE6-E4A8C54AE120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557640" y="255960"/>
            <a:ext cx="11130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Limitations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557640" y="713160"/>
            <a:ext cx="11130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What the current version cannot resolve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557640" y="1042200"/>
            <a:ext cx="11130840" cy="360"/>
          </a:xfrm>
          <a:prstGeom prst="line">
            <a:avLst/>
          </a:prstGeom>
          <a:ln w="12700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557640" y="1417320"/>
            <a:ext cx="11130480" cy="731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557640" y="1417320"/>
            <a:ext cx="54360" cy="7311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786240" y="141732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Incomplete annotation panel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4215240" y="1417320"/>
            <a:ext cx="7244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unassayed cell states can only be represented by proxies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557640" y="2441520"/>
            <a:ext cx="11130480" cy="731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557640" y="2441520"/>
            <a:ext cx="54360" cy="7311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786240" y="244152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Power and separability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1"/>
          <p:cNvSpPr/>
          <p:nvPr/>
        </p:nvSpPr>
        <p:spPr>
          <a:xfrm>
            <a:off x="4215240" y="2441520"/>
            <a:ext cx="7244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weak or correlated components may be missed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"/>
          <p:cNvSpPr/>
          <p:nvPr/>
        </p:nvSpPr>
        <p:spPr>
          <a:xfrm>
            <a:off x="557640" y="3465720"/>
            <a:ext cx="11130480" cy="731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557640" y="3465720"/>
            <a:ext cx="54360" cy="7311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4"/>
          <p:cNvSpPr/>
          <p:nvPr/>
        </p:nvSpPr>
        <p:spPr>
          <a:xfrm>
            <a:off x="786240" y="346572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Ancestry in practice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4215240" y="3465720"/>
            <a:ext cx="7244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validation remains predominantly European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557640" y="4489560"/>
            <a:ext cx="11130480" cy="731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7"/>
          <p:cNvSpPr/>
          <p:nvPr/>
        </p:nvSpPr>
        <p:spPr>
          <a:xfrm>
            <a:off x="557640" y="4489560"/>
            <a:ext cx="54360" cy="7311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786240" y="448956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Upstream resolution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9"/>
          <p:cNvSpPr/>
          <p:nvPr/>
        </p:nvSpPr>
        <p:spPr>
          <a:xfrm>
            <a:off x="4215240" y="4489560"/>
            <a:ext cx="7244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inherits fine-mapping and SNP-to-gene uncertainty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sldNum" idx="11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FDAD04-EEA4-441C-9310-1D526F1F430F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57640" y="255960"/>
            <a:ext cx="11130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Three things to remember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557640" y="713160"/>
            <a:ext cx="11130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FD1C7"/>
                </a:solidFill>
                <a:effectLst/>
                <a:uFillTx/>
                <a:latin typeface="Arial"/>
                <a:ea typeface="Arial"/>
              </a:rPr>
              <a:t>Take-home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557640" y="1042200"/>
            <a:ext cx="11130840" cy="360"/>
          </a:xfrm>
          <a:prstGeom prst="line">
            <a:avLst/>
          </a:prstGeom>
          <a:ln w="12700">
            <a:solidFill>
              <a:srgbClr val="3F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557640" y="161856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167E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557640" y="1618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197720" y="1600200"/>
            <a:ext cx="10490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unit of analysis is the genome, not the locus</a:t>
            </a:r>
            <a:endParaRPr lang="en-US" sz="2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1197720" y="2075760"/>
            <a:ext cx="1049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6E6"/>
                </a:solidFill>
                <a:effectLst/>
                <a:uFillTx/>
                <a:latin typeface="Arial"/>
                <a:ea typeface="Arial"/>
              </a:rPr>
              <a:t>Strength is borrowed across LD blocks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557640" y="294444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167E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557640" y="2944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1197720" y="2926080"/>
            <a:ext cx="10490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Calibration holds in simulation</a:t>
            </a:r>
            <a:endParaRPr lang="en-US" sz="2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1197720" y="3401640"/>
            <a:ext cx="1049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6E6"/>
                </a:solidFill>
                <a:effectLst/>
                <a:uFillTx/>
                <a:latin typeface="Arial"/>
                <a:ea typeface="Arial"/>
              </a:rPr>
              <a:t>But only with a matched LD reference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557640" y="427032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167E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557640" y="427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1197720" y="4251960"/>
            <a:ext cx="10490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1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Use it where the GWAS is large</a:t>
            </a:r>
            <a:endParaRPr lang="en-US" sz="2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1197720" y="4727520"/>
            <a:ext cx="10490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6E6"/>
                </a:solidFill>
                <a:effectLst/>
                <a:uFillTx/>
                <a:latin typeface="Arial"/>
                <a:ea typeface="Arial"/>
              </a:rPr>
              <a:t>Power drops quickly below N ≈ 100k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12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7FD1C7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47A441-2839-4748-861F-933E011B8D65}" type="slidenum">
              <a:rPr lang="en-US" sz="1400" b="0" u="none" strike="noStrike">
                <a:solidFill>
                  <a:srgbClr val="7FD1C7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57640" y="255960"/>
            <a:ext cx="11130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(Supp.) Glossary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557640" y="713160"/>
            <a:ext cx="11130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677F"/>
                </a:solidFill>
                <a:effectLst/>
                <a:uFillTx/>
                <a:latin typeface="Arial"/>
                <a:ea typeface="Arial"/>
              </a:rPr>
              <a:t>Terms used on the main slides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557640" y="1042200"/>
            <a:ext cx="11130840" cy="360"/>
          </a:xfrm>
          <a:prstGeom prst="line">
            <a:avLst/>
          </a:prstGeom>
          <a:ln w="12700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557640" y="1417320"/>
            <a:ext cx="11130480" cy="731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557640" y="1417320"/>
            <a:ext cx="54360" cy="7311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786240" y="1417320"/>
            <a:ext cx="2057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PIP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2935080" y="1417320"/>
            <a:ext cx="852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posterior inclusion probability of a variant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557640" y="2441520"/>
            <a:ext cx="11130480" cy="731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557640" y="2441520"/>
            <a:ext cx="54360" cy="7311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786240" y="2441520"/>
            <a:ext cx="2057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Credible set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2935080" y="2441520"/>
            <a:ext cx="852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smallest set of variants holding ≥ 95% posterior mass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557640" y="3465720"/>
            <a:ext cx="11130480" cy="73116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8E1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557640" y="3465720"/>
            <a:ext cx="54360" cy="731160"/>
          </a:xfrm>
          <a:prstGeom prst="rect">
            <a:avLst/>
          </a:prstGeom>
          <a:solidFill>
            <a:srgbClr val="315D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786240" y="3465720"/>
            <a:ext cx="2057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LD block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2935080" y="3465720"/>
            <a:ext cx="8524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546C"/>
                </a:solidFill>
                <a:effectLst/>
                <a:uFillTx/>
                <a:latin typeface="Arial"/>
                <a:ea typeface="Arial"/>
              </a:rPr>
              <a:t>region treated as independent of its neighbours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sldNum" idx="13"/>
          </p:nvPr>
        </p:nvSpPr>
        <p:spPr>
          <a:xfrm>
            <a:off x="1153332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34F000-753F-4F52-A8DD-AF2BD6CFFC38}" type="slidenum">
              <a:rPr lang="en-US" sz="1400" b="0" u="none" strike="noStrike">
                <a:solidFill>
                  <a:srgbClr val="162B43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2026-10-16T20:24:13Z</dcterms:created>
  <dc:creator>PptxGenJS</dc:creator>
  <dc:description/>
  <dc:language>en-US</dc:language>
  <cp:lastModifiedBy>PptxGenJS</cp:lastModifiedBy>
  <dcterms:modified xsi:type="dcterms:W3CDTF">2026-10-16T20:24:13Z</dcterms:modified>
  <cp:revision>1</cp:revision>
  <dc:subject>PptxGenJS Presentation</dc:subject>
  <dc:title>research-slides synthetic demo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